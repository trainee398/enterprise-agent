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3f98d055340b7" /><Relationship Type="http://schemas.openxmlformats.org/officeDocument/2006/relationships/extended-properties" Target="/docProps/app.xml" Id="R354d791bba8b46b7" /><Relationship Type="http://schemas.openxmlformats.org/officeDocument/2006/relationships/officeDocument" Target="/ppt/presentation.xml" Id="R6b82c1d8371645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4c02f44e14c38"/>
  </p:sldMasterIdLst>
  <p:notesMasterIdLst>
    <p:notesMasterId xmlns:r="http://schemas.openxmlformats.org/officeDocument/2006/relationships" r:id="R9a187b1098984093"/>
  </p:notesMasterIdLst>
  <p:sldIdLst>
    <p:sldId xmlns:r="http://schemas.openxmlformats.org/officeDocument/2006/relationships" id="256" r:id="R50c6d748c1014700"/>
    <p:sldId xmlns:r="http://schemas.openxmlformats.org/officeDocument/2006/relationships" id="257" r:id="R49aa78827fe14f5b"/>
    <p:sldId xmlns:r="http://schemas.openxmlformats.org/officeDocument/2006/relationships" id="258" r:id="R6e52f6595a3a4294"/>
    <p:sldId xmlns:r="http://schemas.openxmlformats.org/officeDocument/2006/relationships" id="259" r:id="R2796b1d4b1034bef"/>
    <p:sldId xmlns:r="http://schemas.openxmlformats.org/officeDocument/2006/relationships" id="260" r:id="R2f1346d6859f44c5"/>
    <p:sldId xmlns:r="http://schemas.openxmlformats.org/officeDocument/2006/relationships" id="261" r:id="Rd09ea9ca26504b84"/>
    <p:sldId xmlns:r="http://schemas.openxmlformats.org/officeDocument/2006/relationships" id="262" r:id="Rc77801fc8c2b4cff"/>
    <p:sldId xmlns:r="http://schemas.openxmlformats.org/officeDocument/2006/relationships" id="263" r:id="R1a2539d76eb24c4c"/>
    <p:sldId xmlns:r="http://schemas.openxmlformats.org/officeDocument/2006/relationships" id="264" r:id="R9a19273f623a49c7"/>
    <p:sldId xmlns:r="http://schemas.openxmlformats.org/officeDocument/2006/relationships" id="265" r:id="Rc41e5abe047f4cd8"/>
    <p:sldId xmlns:r="http://schemas.openxmlformats.org/officeDocument/2006/relationships" id="266" r:id="Rf2e9c6ea06d64a05"/>
    <p:sldId xmlns:r="http://schemas.openxmlformats.org/officeDocument/2006/relationships" id="267" r:id="R3853fed43edd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162b16c0ca4936" /><Relationship Type="http://schemas.openxmlformats.org/officeDocument/2006/relationships/slideMaster" Target="/ppt/slideMasters/slideMaster1.xml" Id="Rb4c4c02f44e14c38" /><Relationship Type="http://schemas.openxmlformats.org/officeDocument/2006/relationships/notesMaster" Target="/ppt/notesMasters/notesMaster1.xml" Id="R9a187b1098984093" /><Relationship Type="http://schemas.openxmlformats.org/officeDocument/2006/relationships/presProps" Target="/ppt/presProps.xml" Id="R432893f1b51d40c2" /><Relationship Type="http://schemas.openxmlformats.org/officeDocument/2006/relationships/tableStyles" Target="/ppt/tableStyles.xml" Id="Reaf05f81094941d7" /><Relationship Type="http://schemas.openxmlformats.org/officeDocument/2006/relationships/slide" Target="/ppt/slides/slide1.xml" Id="R50c6d748c1014700" /><Relationship Type="http://schemas.openxmlformats.org/officeDocument/2006/relationships/slide" Target="/ppt/slides/slide2.xml" Id="R49aa78827fe14f5b" /><Relationship Type="http://schemas.openxmlformats.org/officeDocument/2006/relationships/slide" Target="/ppt/slides/slide3.xml" Id="R6e52f6595a3a4294" /><Relationship Type="http://schemas.openxmlformats.org/officeDocument/2006/relationships/slide" Target="/ppt/slides/slide4.xml" Id="R2796b1d4b1034bef" /><Relationship Type="http://schemas.openxmlformats.org/officeDocument/2006/relationships/slide" Target="/ppt/slides/slide5.xml" Id="R2f1346d6859f44c5" /><Relationship Type="http://schemas.openxmlformats.org/officeDocument/2006/relationships/slide" Target="/ppt/slides/slide6.xml" Id="Rd09ea9ca26504b84" /><Relationship Type="http://schemas.openxmlformats.org/officeDocument/2006/relationships/slide" Target="/ppt/slides/slide7.xml" Id="Rc77801fc8c2b4cff" /><Relationship Type="http://schemas.openxmlformats.org/officeDocument/2006/relationships/slide" Target="/ppt/slides/slide8.xml" Id="R1a2539d76eb24c4c" /><Relationship Type="http://schemas.openxmlformats.org/officeDocument/2006/relationships/slide" Target="/ppt/slides/slide9.xml" Id="R9a19273f623a49c7" /><Relationship Type="http://schemas.openxmlformats.org/officeDocument/2006/relationships/slide" Target="/ppt/slides/slide10.xml" Id="Rc41e5abe047f4cd8" /><Relationship Type="http://schemas.openxmlformats.org/officeDocument/2006/relationships/slide" Target="/ppt/slides/slide11.xml" Id="Rf2e9c6ea06d64a05" /><Relationship Type="http://schemas.openxmlformats.org/officeDocument/2006/relationships/slide" Target="/ppt/slides/slide12.xml" Id="R3853fed43edd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ecac7c0e77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a3630aa8946a7" /><Relationship Type="http://schemas.openxmlformats.org/officeDocument/2006/relationships/notesMaster" Target="/ppt/notesMasters/notesMaster1.xml" Id="R2d5992877ed04b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f8638fd3924dd3" /><Relationship Type="http://schemas.openxmlformats.org/officeDocument/2006/relationships/notesMaster" Target="/ppt/notesMasters/notesMaster1.xml" Id="Rf5bcc884e3e042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0197eae3f34355" /><Relationship Type="http://schemas.openxmlformats.org/officeDocument/2006/relationships/notesMaster" Target="/ppt/notesMasters/notesMaster1.xml" Id="R434e7879671e46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ee9539ee17449c" /><Relationship Type="http://schemas.openxmlformats.org/officeDocument/2006/relationships/notesMaster" Target="/ppt/notesMasters/notesMaster1.xml" Id="R4c0cd3ab90df49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dd246eaaa14af4" /><Relationship Type="http://schemas.openxmlformats.org/officeDocument/2006/relationships/notesMaster" Target="/ppt/notesMasters/notesMaster1.xml" Id="R467c97ec2bf34d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a2e74b0cbd4df8" /><Relationship Type="http://schemas.openxmlformats.org/officeDocument/2006/relationships/notesMaster" Target="/ppt/notesMasters/notesMaster1.xml" Id="Rfec73da5831a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b7bccfa1ed40de" /><Relationship Type="http://schemas.openxmlformats.org/officeDocument/2006/relationships/notesMaster" Target="/ppt/notesMasters/notesMaster1.xml" Id="R859eee749fbc47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6deaa66dd949a7" /><Relationship Type="http://schemas.openxmlformats.org/officeDocument/2006/relationships/notesMaster" Target="/ppt/notesMasters/notesMaster1.xml" Id="Rf168ddf8552d4d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000825edbf4066" /><Relationship Type="http://schemas.openxmlformats.org/officeDocument/2006/relationships/notesMaster" Target="/ppt/notesMasters/notesMaster1.xml" Id="Rd1984adf4cf747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5e182b56344a4d" /><Relationship Type="http://schemas.openxmlformats.org/officeDocument/2006/relationships/notesMaster" Target="/ppt/notesMasters/notesMaster1.xml" Id="R8771ab1143d54c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c5b9edc5134f48" /><Relationship Type="http://schemas.openxmlformats.org/officeDocument/2006/relationships/notesMaster" Target="/ppt/notesMasters/notesMaster1.xml" Id="Rc994fea8432c43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ff4ce7a5284176" /><Relationship Type="http://schemas.openxmlformats.org/officeDocument/2006/relationships/notesMaster" Target="/ppt/notesMasters/notesMaster1.xml" Id="R0d50a9728d56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本次汇报重点为：在已确认的企业Agent方向下，先上线简洁知识库，并通过竞品调研提出可评估的一期取舍。数据看板调研摘要保留在第9页。封面为AI生成概念配图。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体方向来自用户最新转述的领导确认，作为已确认背景。知识库先上线、避免复杂，是本次决策约束。下面的具体功能、默认归属与试点方式均为建议，不等于已评审PRD。整体框架已确认，不代表一期必须交付Agent问答，问答排期单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ion官方可核实搜索正文、搜索窗口最近页和收藏导航。飞书默认权限可按部门/用户组/成员设置。语雀的未选库默认归属仅来自用户本人反馈，不能当作企业账号通用规则。Obsidian使用本地Markdown，但共享库无细粒度权限，不能照搬其权限模型。借鉴判断没有留存数据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https://www.notion.com/help/search</a:t>
            </a:r>
          </a:p>
          <a:p xmlns:a="http://schemas.openxmlformats.org/drawingml/2006/main">
            <a:r>
              <a:t>2. https://www.notion.com/help/navigate-with-the-sidebar</a:t>
            </a:r>
          </a:p>
          <a:p xmlns:a="http://schemas.openxmlformats.org/drawingml/2006/main">
            <a:r>
              <a:t>3. https://www.feishu.cn/hc/zh-CN/articles/265017155035</a:t>
            </a:r>
          </a:p>
          <a:p xmlns:a="http://schemas.openxmlformats.org/drawingml/2006/main">
            <a:r>
              <a:t>4. https://obsidian.md/help/data-storage</a:t>
            </a:r>
          </a:p>
          <a:p xmlns:a="http://schemas.openxmlformats.org/drawingml/2006/main">
            <a:r>
              <a:t>5. https://obsidian.md/help/sync/collaborate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将资料的实际查用作为一期价值主线。顺利上传只是首次使用条件；可重复使用的知识才可能促成员工回访。这是待验证的产品假设，不能承诺留存。Notion负责人和验证状态机制可启发重要知识的维护，但一期不要求复制完整验证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https://www.notion.com/help/wikis-and-verified-pages</a:t>
            </a:r>
          </a:p>
          <a:p xmlns:a="http://schemas.openxmlformats.org/drawingml/2006/main">
            <a:r>
              <a:t>2. https://www.notion.com/help/search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交互方向，不是完整页面原型。查找为主任务，因此不让上传、新建、搜索并列竞争首页注意力。最近资料可以先做；收藏按首批任务决定。进入某库时可默认当前库并显示可见范围；全局录入若没有明确目标，可先进入仅本人可见的待整理位置，但此机制也需按实际权限样本确认。不能因未选分类而默认全员共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https://www.notion.com/help/navigate-with-the-sidebar</a:t>
            </a:r>
          </a:p>
          <a:p xmlns:a="http://schemas.openxmlformats.org/drawingml/2006/main">
            <a:r>
              <a:t>2. https://www.notion.com/help/search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库级继承是建议验证的简化方案，不是已定权限矩阵或RBAC/ACL实现。管理员需要理解最终授权来源，特别是人员同时属于多个组时。撤权后检查搜索、原链接、附件和分享；未来Agent调用也要遵守内容访问范围，但此处不展开技术架构。上述文档和成员组合是虚构业务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https://www.notion.com/help/sharing-and-permissions</a:t>
            </a:r>
          </a:p>
          <a:p xmlns:a="http://schemas.openxmlformats.org/drawingml/2006/main">
            <a:r>
              <a:t>2. https://www.feishu.cn/hc/zh-CN/articles/265017155035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入口精简与可靠性保障同时考虑，恢复、来源、权限等不因首页简化而消失。维护人可先是创建者或指定人员；纠错先做到能联系到人并定位文档，不必另建工单系统。格式清单按真实资料验证，不承诺任意Office/PDF全量转换。是否一期接入Agent问答单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放入一组经常被问到、且有明确维护人的资料。再选择确有重复查找需求的小团队。两周是建议的早期试点周期，没有捏造样本规模、成功率或留存目标。阅读者和维护者分开看：阅读者的查找成功与再次使用，维护者的纠错更新成本。默认权限错误、保存丢失、查用到过期资料作为质量约束。问题登记可人工进行，不因测量需要扩建分析或工单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数据是已确认事实层方向之一；本页比较人的看数和追查体验，不预设看板产品等于事实层，也不据此给出数据接入架构。Power BI Dashboard与Report区分来自官方，固定整张报表页有特殊交互行为。Metabase原生SQL钻取能力不能等同查询构建器。当前仍是官方资料初步调研，尚未统一账号实测。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https://learn.microsoft.com/en-us/power-bi/create-reports/service-dashboards</a:t>
            </a:r>
          </a:p>
          <a:p xmlns:a="http://schemas.openxmlformats.org/drawingml/2006/main">
            <a:r>
              <a:t>2. https://learn.microsoft.com/en-us/power-bi/collaborate-share/service-share-dashboards</a:t>
            </a:r>
          </a:p>
          <a:p xmlns:a="http://schemas.openxmlformats.org/drawingml/2006/main">
            <a:r>
              <a:t>3. https://www.metabase.com/docs/latest/dashboards/introduction</a:t>
            </a:r>
          </a:p>
          <a:p xmlns:a="http://schemas.openxmlformats.org/drawingml/2006/main">
            <a:r>
              <a:t>4. https://www.metabase.com/docs/latest/questions/visualizations/drill-through</a:t>
            </a:r>
          </a:p>
          <a:p xmlns:a="http://schemas.openxmlformats.org/drawingml/2006/main">
            <a:r>
              <a:t>5. https://www.metabase.com/docs/latest/permissions/introduction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先给出建议，不再把已确认的整体框架作为开放问题。请领导拍板的是具体一期场景和范围，随后将真实资料、人员访问样本和原型任务带入验证。建议以一个小团队的重复查询场景开始，例如经常被问到的操作流程或业务口径；这些仍是候选例子，不是已确认的首批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资料标题可打开对应官网。飞书权限默认值来自官方帮助可检索资料；当前账号和套餐未实测。语雀使用反馈来自用户，截图不是对默认归属行为的完整验证。产品能力受版本和套餐影响，应按试点账号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https://www.notion.com/help/search</a:t>
            </a:r>
          </a:p>
          <a:p xmlns:a="http://schemas.openxmlformats.org/drawingml/2006/main">
            <a:r>
              <a:t>2. https://www.notion.com/help/navigate-with-the-sidebar</a:t>
            </a:r>
          </a:p>
          <a:p xmlns:a="http://schemas.openxmlformats.org/drawingml/2006/main">
            <a:r>
              <a:t>3. https://www.notion.com/help/sharing-and-permissions</a:t>
            </a:r>
          </a:p>
          <a:p xmlns:a="http://schemas.openxmlformats.org/drawingml/2006/main">
            <a:r>
              <a:t>4. https://www.notion.com/help/wikis-and-verified-pages</a:t>
            </a:r>
          </a:p>
          <a:p xmlns:a="http://schemas.openxmlformats.org/drawingml/2006/main">
            <a:r>
              <a:t>5. https://www.feishu.cn/hc/zh-CN/articles/265017155035</a:t>
            </a:r>
          </a:p>
          <a:p xmlns:a="http://schemas.openxmlformats.org/drawingml/2006/main">
            <a:r>
              <a:t>6. https://obsidian.md/help/data-storage</a:t>
            </a:r>
          </a:p>
          <a:p xmlns:a="http://schemas.openxmlformats.org/drawingml/2006/main">
            <a:r>
              <a:t>7. https://obsidian.md/help/sync/collaborate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本轮没有执行真实企业数据接入、权限实测、性能测试或用户留存实验。数据看板调研与知识库一期建议分别呈现，不因为共同服务Agent就合并为一份完整架构。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https://learn.microsoft.com/en-us/power-bi/create-reports/service-dashboards</a:t>
            </a:r>
          </a:p>
          <a:p xmlns:a="http://schemas.openxmlformats.org/drawingml/2006/main">
            <a:r>
              <a:t>2. https://learn.microsoft.com/en-us/power-bi/collaborate-share/service-share-dashboards</a:t>
            </a:r>
          </a:p>
          <a:p xmlns:a="http://schemas.openxmlformats.org/drawingml/2006/main">
            <a:r>
              <a:t>3. https://www.metabase.com/docs/latest/dashboards/introduction</a:t>
            </a:r>
          </a:p>
          <a:p xmlns:a="http://schemas.openxmlformats.org/drawingml/2006/main">
            <a:r>
              <a:t>4. https://www.metabase.com/docs/latest/questions/visualizations/drill-through</a:t>
            </a:r>
          </a:p>
          <a:p xmlns:a="http://schemas.openxmlformats.org/drawingml/2006/main">
            <a:r>
              <a:t>5. https://www.metabase.com/docs/latest/permissions/introduction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f43cde9264a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b7d84bc1f3497a" /><Relationship Type="http://schemas.openxmlformats.org/officeDocument/2006/relationships/slideLayout" Target="/ppt/slideLayouts/slideLayout1.xml" Id="R269812ae620b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812ae620b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2e7869c4d4306" /><Relationship Type="http://schemas.openxmlformats.org/officeDocument/2006/relationships/image" Target="/ppt/media/image.png" Id="Re91852c873054dc9" /><Relationship Type="http://schemas.openxmlformats.org/officeDocument/2006/relationships/notesSlide" Target="/ppt/notesSlides/notesSlide1.xml" Id="R693540da8ec945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802a35cf549ca" /><Relationship Type="http://schemas.openxmlformats.org/officeDocument/2006/relationships/notesSlide" Target="/ppt/notesSlides/notesSlide2.xml" Id="Rc7dc36b8338740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d7f32e55745a2" /><Relationship Type="http://schemas.openxmlformats.org/officeDocument/2006/relationships/notesSlide" Target="/ppt/notesSlides/notesSlide3.xml" Id="Rbcc616050baf4c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b645b47b4095" /><Relationship Type="http://schemas.openxmlformats.org/officeDocument/2006/relationships/notesSlide" Target="/ppt/notesSlides/notesSlide4.xml" Id="R1e77f8673c25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712c550b24bca" /><Relationship Type="http://schemas.openxmlformats.org/officeDocument/2006/relationships/notesSlide" Target="/ppt/notesSlides/notesSlide5.xml" Id="R29c96ff825d2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3c8afc9264b07" /><Relationship Type="http://schemas.openxmlformats.org/officeDocument/2006/relationships/notesSlide" Target="/ppt/notesSlides/notesSlide6.xml" Id="R04c7183d68b947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9b50cd2644c8a" /><Relationship Type="http://schemas.openxmlformats.org/officeDocument/2006/relationships/notesSlide" Target="/ppt/notesSlides/notesSlide7.xml" Id="R2d38b4b8255f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9b840dcaa4780" /><Relationship Type="http://schemas.openxmlformats.org/officeDocument/2006/relationships/notesSlide" Target="/ppt/notesSlides/notesSlide8.xml" Id="R34de186b062a4e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846dfd13d4381" /><Relationship Type="http://schemas.openxmlformats.org/officeDocument/2006/relationships/notesSlide" Target="/ppt/notesSlides/notesSlide9.xml" Id="R3cb0db32e9234b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8fc3141c7446c" /><Relationship Type="http://schemas.openxmlformats.org/officeDocument/2006/relationships/notesSlide" Target="/ppt/notesSlides/notesSlide10.xml" Id="Rda12ae11fc074f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a348b9fcc4cfe" /><Relationship Type="http://schemas.openxmlformats.org/officeDocument/2006/relationships/hyperlink" Target="https://www.notion.com/help/search" TargetMode="External" Id="R52d6ff22973c457b" /><Relationship Type="http://schemas.openxmlformats.org/officeDocument/2006/relationships/hyperlink" Target="https://www.notion.com/help/navigate-with-the-sidebar" TargetMode="External" Id="R2060e420d96f471e" /><Relationship Type="http://schemas.openxmlformats.org/officeDocument/2006/relationships/hyperlink" Target="https://www.notion.com/help/sharing-and-permissions" TargetMode="External" Id="R2adf2348005e4429" /><Relationship Type="http://schemas.openxmlformats.org/officeDocument/2006/relationships/hyperlink" Target="https://www.notion.com/help/wikis-and-verified-pages" TargetMode="External" Id="Rd230d9c335634364" /><Relationship Type="http://schemas.openxmlformats.org/officeDocument/2006/relationships/hyperlink" Target="https://www.feishu.cn/hc/zh-CN/articles/265017155035" TargetMode="External" Id="R06655e78864c4d66" /><Relationship Type="http://schemas.openxmlformats.org/officeDocument/2006/relationships/hyperlink" Target="https://obsidian.md/help/data-storage" TargetMode="External" Id="Re83947f4a4ee4439" /><Relationship Type="http://schemas.openxmlformats.org/officeDocument/2006/relationships/notesSlide" Target="/ppt/notesSlides/notesSlide11.xml" Id="R2ff4758244bb41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f0568c3084ff4" /><Relationship Type="http://schemas.openxmlformats.org/officeDocument/2006/relationships/hyperlink" Target="https://learn.microsoft.com/en-us/power-bi/create-reports/service-dashboards" TargetMode="External" Id="Rf0e5b20058814e01" /><Relationship Type="http://schemas.openxmlformats.org/officeDocument/2006/relationships/hyperlink" Target="https://learn.microsoft.com/en-us/power-bi/collaborate-share/service-share-dashboards" TargetMode="External" Id="R1fb48e07170546e8" /><Relationship Type="http://schemas.openxmlformats.org/officeDocument/2006/relationships/hyperlink" Target="https://www.metabase.com/docs/latest/dashboards/introduction" TargetMode="External" Id="Rde003e291d444bfa" /><Relationship Type="http://schemas.openxmlformats.org/officeDocument/2006/relationships/hyperlink" Target="https://www.metabase.com/docs/latest/questions/visualizations/drill-through" TargetMode="External" Id="Red7090d814a544d9" /><Relationship Type="http://schemas.openxmlformats.org/officeDocument/2006/relationships/hyperlink" Target="https://www.metabase.com/docs/latest/permissions/introduction" TargetMode="External" Id="Rcc9f40a0008f4d8e" /><Relationship Type="http://schemas.openxmlformats.org/officeDocument/2006/relationships/notesSlide" Target="/ppt/notesSlides/notesSlide12.xml" Id="R30b41a8e0e084a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08FFD-5736-4FB5-A87F-9969FE1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852c873054dc9"/>
          <a:stretch xmlns:a="http://schemas.openxmlformats.org/drawingml/2006/main"/>
        </p:blipFill>
        <p:spPr>
          <a:xfrm xmlns:a="http://schemas.openxmlformats.org/drawingml/2006/main">
            <a:off x="6819900" y="619125"/>
            <a:ext cx="5238750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8893C-D0B8-412E-BDD2-71F98D07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570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企业知识库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570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一期建议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A5309-265D-4CD3-B866-6D35E904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850" b="0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简洁功能与持续使用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CBABB-2423-4A94-B75D-2E6E059A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8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竞品调研结论 · 附数据看板摘要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46F11-26A9-4F3A-A3B6-6D8BCD1B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5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2026 年 9 月 9 日</a:t>
            </a:r>
          </a:p>
        </p:txBody>
      </p:sp>
    </p:spTree>
    <p:extLst>
      <p:ext uri="{BB962C8B-B14F-4D97-AF65-F5344CB8AC3E}">
        <p14:creationId xmlns:p14="http://schemas.microsoft.com/office/powerpoint/2010/main" val="1164806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3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F6368-9302-425A-94B0-0FB4B2B6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已确认的背景与本期任务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28D83-CE43-4495-A181-A197B0FC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B9D6C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9D6C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37897-7521-4847-B518-12C00FC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企业知识 · 企业数据 · OKR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67CCB-A32A-4068-9C43-2F651BF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0">
                <a:solidFill>
                  <a:srgbClr val="B9D6CA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B9D6CA"/>
                </a:solidFill>
                <a:latin typeface="PingFang SC"/>
                <a:ea typeface="PingFang SC"/>
                <a:cs typeface="PingFang SC"/>
              </a:rPr>
              <a:t>共同组成事实层，供 Agent 调用，提升公司业务能力。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4C76D-9271-4E13-A820-75447F2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本期先上线知识库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1D2E5-311F-476F-B516-71761EA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调研需要给出：哪些功能值得保留，怎样让员工愿意持续使用。</a:t>
            </a:r>
          </a:p>
        </p:txBody>
      </p:sp>
    </p:spTree>
    <p:extLst>
      <p:ext uri="{BB962C8B-B14F-4D97-AF65-F5344CB8AC3E}">
        <p14:creationId xmlns:p14="http://schemas.microsoft.com/office/powerpoint/2010/main" val="931443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253F7-16C2-4A9E-B98E-A0F9A4B9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竞品中值得保留的机制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E25CC-62D8-4C79-9447-055EE77E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733550"/>
          <a:ext xmlns:a="http://schemas.openxmlformats.org/drawingml/2006/main" cx="10896600" cy="3848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125"/>
                <a:gridCol w="4476750"/>
                <a:gridCol w="46577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参考产品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观察到的机制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对一期的启发【建议】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</a:tr>
              <a:tr h="8239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Notion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搜索正文、最近访问与收藏入口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减少再次找到资料的路径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8239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飞书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按部门、用户组或成员</a:t>
                      </a:r>
                    </a:p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配置文档默认权限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统一默认规则，减少逐篇配置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8239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语雀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默认库承接资料，之后主动整理</a:t>
                      </a:r>
                    </a:p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（用户个人体验）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减少录入前的归类负担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8239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Obsidian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 Markdown 文件与直接读写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基础编辑顺手，内容便于迁移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D5E2A-C692-4591-B0F8-D9B3AA68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保留具体机制；个人偏好与竞品功能都不能直接证明企业用户留存。</a:t>
            </a:r>
          </a:p>
        </p:txBody>
      </p:sp>
    </p:spTree>
    <p:extLst>
      <p:ext uri="{BB962C8B-B14F-4D97-AF65-F5344CB8AC3E}">
        <p14:creationId xmlns:p14="http://schemas.microsoft.com/office/powerpoint/2010/main" val="557627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00944-D83D-4835-9F44-CEA06E1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一期建议：查到并用上业务资料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2F992-E837-426A-BCCA-79501EB7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41629-19BA-4C46-9DA0-71F0E558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10782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675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员工需要资料时，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3675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能找到有权访问、适合当前任务的内容。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11D28-EC7C-4BBC-9B5B-EE90CC3F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5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容易开始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3DDD9-BE5B-4376-8541-6E9DDB17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66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少填信息，少选类型。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先让已有资料顺利进来。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4F294-76E0-4425-A239-9426584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38575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5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愿意回来【推测】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04B35-0A0A-4880-B765-EE26B78B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5105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查找有效，同事也引用同一份资料。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下次遇到需求时仍愿意使用。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BDA43-6913-439C-AB06-0DA8CD57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资料归属、维护人、来源与更新时间提供判断线索；更新时间不等于内容已核验。</a:t>
            </a:r>
          </a:p>
        </p:txBody>
      </p:sp>
    </p:spTree>
    <p:extLst>
      <p:ext uri="{BB962C8B-B14F-4D97-AF65-F5344CB8AC3E}">
        <p14:creationId xmlns:p14="http://schemas.microsoft.com/office/powerpoint/2010/main" val="1676881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A8CF6-41F6-4EAA-8D9F-998FD47F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员工的主路径：搜索 → 阅读 → 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098B3-52B8-4C6C-A243-C370F00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4D6A7-86E8-45C6-BF06-80C3C0F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00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首页优先服务查找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9DC1E-2851-4975-8D58-74C8D4EC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5238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搜索最突出，最近资料帮助返回。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上传 / 新建作为次级入口。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066B0-D931-493E-A61B-EE238DC7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621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00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打开文档后再呈现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27057-E3F3-499C-AB72-F213F5DB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正文与来源，维护人与更新时间。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复制稳定链接，按权限直接修改。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8D96F-2166-46BE-A009-B60A9C4C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53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5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录入时减少必填项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4B875-A5E5-40D7-845B-67BDBE11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175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默认位置和可见范围始终清楚；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175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目录、标签不作为上传前的必做题。</a:t>
            </a:r>
          </a:p>
        </p:txBody>
      </p:sp>
    </p:spTree>
    <p:extLst>
      <p:ext uri="{BB962C8B-B14F-4D97-AF65-F5344CB8AC3E}">
        <p14:creationId xmlns:p14="http://schemas.microsoft.com/office/powerpoint/2010/main" val="1000932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23F6C-91DE-49DC-A78A-4E2B9D00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权限简化：先验证库级继承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964E2-366F-41A5-91F1-4FD55C56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6D888-45EF-456A-B9C6-1889E25E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按库设置阅读、编辑与管理，文档默认继承。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2266950"/>
          <a:ext xmlns:a="http://schemas.openxmlformats.org/drawingml/2006/main" cx="10896600" cy="3028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43125"/>
                <a:gridCol w="4572000"/>
                <a:gridCol w="4181475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示例资料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库的访问范围【示例】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员工看到的结果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全员制度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全员可读，指定维护人可改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全员能查阅，仅维护人能修改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部门操作手册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本部门可读，维护人可改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其他部门的搜索与原链接均受限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指定人员资料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单独受限库，仅指定成员访问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正文、附件、分享遵守同一范围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4D833-C4E7-4122-91D0-6673C23D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适用前提：资料能按稳定的访问范围分组。例外很多时，再评估单篇权限，避免库过多。</a:t>
            </a:r>
          </a:p>
        </p:txBody>
      </p:sp>
    </p:spTree>
    <p:extLst>
      <p:ext uri="{BB962C8B-B14F-4D97-AF65-F5344CB8AC3E}">
        <p14:creationId xmlns:p14="http://schemas.microsoft.com/office/powerpoint/2010/main" val="31297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56234-2D70-4903-8980-53DC3B9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功能取舍：把投入集中在查用体验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BDC0A-43E8-4128-B145-004994F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386B6-927F-46FA-9441-EEE93960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本期保留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7A2E3-7DF2-4EC3-8DFA-C3B46285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3337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已验证格式的收录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标题与正文搜索、最近资料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阅读、基础编辑、稳定链接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库级权限与清楚的可见范围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9D5B3-26AA-4C1F-82E0-198E907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1452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按需呈现的基础保障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13B75-6DEE-495D-B4B2-E495E84F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33337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保存状态与失败处理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来源、维护人、更新时间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必要的版本与删除恢复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移动归档、联系维护人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C4D83-52E2-460F-ACAB-1E6DA15A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1452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1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暂缓扩展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B4AAA-BA5D-42A5-8F2E-93D4C29F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67025"/>
            <a:ext cx="33337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复杂标签与多视图体系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图谱、插件、模板市场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社交打卡和活动激励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完整协同审批与权限编排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C0211-81A7-401A-8331-74DB7EDB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以上为一期建议，需结合研发工作量定范围。Markdown 可作内容形式，普通员工无需先学习语法。</a:t>
            </a:r>
          </a:p>
        </p:txBody>
      </p:sp>
    </p:spTree>
    <p:extLst>
      <p:ext uri="{BB962C8B-B14F-4D97-AF65-F5344CB8AC3E}">
        <p14:creationId xmlns:p14="http://schemas.microsoft.com/office/powerpoint/2010/main" val="1454108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8DCD9-2E21-4076-BEE6-C5590085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用真实任务验证持续使用的可能性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26285-CB7B-4FA6-B7B9-CDA1D6B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C333-4065-49CD-8319-E7BCB612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325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先准备有维护人的高频资料，再选一个小团队试用两周。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2238375"/>
          <a:ext xmlns:a="http://schemas.openxmlformats.org/drawingml/2006/main" cx="10896600" cy="3124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76625"/>
                <a:gridCol w="74199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观察的问题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记录方式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第一次是否容易用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无帮助完成一次收录或查找；记录耗时与卡点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是否帮助完成真实工作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抽样确认资料是否实际用于完成任务，记录失败原因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有同类需求时是否再次使用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仅在确实再次遇到同类需求的人中，记录再次使用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资料是否越用越有用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记录无结果搜索、过期或错误内容，检查维护后是否改善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B7E2A-807F-419B-8CD3-E9206A11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试点是早期验证，不是留存证明。先建立基线；登录次数、上传数量和链接点击不代替业务价值。</a:t>
            </a:r>
          </a:p>
        </p:txBody>
      </p:sp>
    </p:spTree>
    <p:extLst>
      <p:ext uri="{BB962C8B-B14F-4D97-AF65-F5344CB8AC3E}">
        <p14:creationId xmlns:p14="http://schemas.microsoft.com/office/powerpoint/2010/main" val="1270032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A82D9-BF39-440A-8FCB-C99ADB64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数据看板：汇总、追查与可见范围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F56A1-EAFA-413B-AC02-9C7705E9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809750"/>
          <a:ext xmlns:a="http://schemas.openxmlformats.org/drawingml/2006/main" cx="10896600" cy="2752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125"/>
                <a:gridCol w="5143500"/>
                <a:gridCol w="39909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初步调研发现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6B5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后续比较重点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D8D1"/>
                      </a:solidFill>
                    </a:lnB>
                    <a:solidFill>
                      <a:srgbClr val="E7EDE6"/>
                    </a:solidFill>
                  </a:tcPr>
                </a:tc>
              </a:tr>
              <a:tr h="11001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Power BI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仪表板汇总磁贴，详细分析进入报表；</a:t>
                      </a:r>
                    </a:p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筛选与切片主要在报表中进行。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从概况进入明细的路径，</a:t>
                      </a:r>
                    </a:p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以及分享后的底层数据范围。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9525">
                      <a:solidFill>
                        <a:srgbClr val="CFD8D1"/>
                      </a:solidFill>
                    </a:lnB>
                    <a:solidFill>
                      <a:srgbClr val="F7F7F3"/>
                    </a:solidFill>
                  </a:tcPr>
                </a:tc>
              </a:tr>
              <a:tr h="11001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Metabase</a:t>
                      </a:r>
                    </a:p>
                  </a:txBody>
                  <a:tcPr marL="114300" marR="171450" marT="114300" marB="11430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查询组合到看板，可配置筛选与点击；</a:t>
                      </a:r>
                    </a:p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钻取受查询权限和查询方式约束。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筛选后是否容易追查，</a:t>
                      </a:r>
                    </a:p>
                    <a:p>
                      <a:r>
                        <a:rPr sz="1875">
                          <a:solidFill>
                            <a:srgbClr val="182B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集合权限与数据权限是否清楚。</a:t>
                      </a:r>
                    </a:p>
                  </a:txBody>
                  <a:tcPr marL="114300" marR="171450" marT="114300" marB="11430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6D592-922A-4358-A228-C390DAA6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75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6B52"/>
                </a:solidFill>
                <a:latin typeface="PingFang SC"/>
                <a:ea typeface="PingFang SC"/>
                <a:cs typeface="PingFang SC"/>
              </a:rPr>
              <a:t>与知识库共用的评价思路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575EC-6577-4E49-BD31-3D1B5DA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完成一个业务任务是否省事，结果能否判断，访问范围是否一致。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41390-7A3E-4FD0-B296-1E1F931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官方资料初步调研，尚未统一账号实测。</a:t>
            </a:r>
          </a:p>
        </p:txBody>
      </p:sp>
    </p:spTree>
    <p:extLst>
      <p:ext uri="{BB962C8B-B14F-4D97-AF65-F5344CB8AC3E}">
        <p14:creationId xmlns:p14="http://schemas.microsoft.com/office/powerpoint/2010/main" val="20402692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52A90-D1CD-4781-B0E5-CD55841D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周五建议确认的取舍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46A74-7E3A-421C-8E9A-232932DD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B9D6C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9D6C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FD40C-0B76-40CF-A319-4E388205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建议以“查到并用上业务资料”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作为知识库一期的重点。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2E97E-A454-45A9-A338-4EBBC5A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1">
                <a:solidFill>
                  <a:srgbClr val="B9D6C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9D6CA"/>
                </a:solidFill>
                <a:latin typeface="PingFang SC"/>
                <a:ea typeface="PingFang SC"/>
                <a:cs typeface="PingFang SC"/>
              </a:rPr>
              <a:t>优先打磨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773A5-4E97-4ADE-B3EC-B2193A8A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4476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搜索与阅读路径，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默认归属和可见范围。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FC6CF-C9FA-4B66-B61E-6CD692F3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1">
                <a:solidFill>
                  <a:srgbClr val="B9D6C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9D6CA"/>
                </a:solidFill>
                <a:latin typeface="PingFang SC"/>
                <a:ea typeface="PingFang SC"/>
                <a:cs typeface="PingFang SC"/>
              </a:rPr>
              <a:t>会上确认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9055-4DB0-4CE6-841F-08F3FABD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5143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先覆盖哪个团队的哪类资料？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是否存在必须支持的单篇权限例外？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 问答是否本期交付？</a:t>
            </a:r>
          </a:p>
        </p:txBody>
      </p:sp>
    </p:spTree>
    <p:extLst>
      <p:ext uri="{BB962C8B-B14F-4D97-AF65-F5344CB8AC3E}">
        <p14:creationId xmlns:p14="http://schemas.microsoft.com/office/powerpoint/2010/main" val="14787772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CE4F8-6D61-4EB5-A17E-4FDCFAE9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附录：知识产品的资料依据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B946-2F9D-43D7-A7AD-13CDE24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E6065-626C-40B4-822E-98601B85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2d6ff22973c457b"/>
              </a:rPr>
              <a:t>Notion：搜索与最近访问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4389C-F553-455E-92AD-44EB49E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2877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搜索范围、最近页面与查找入口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5D24E-D3D9-46A9-9738-96443230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060e420d96f471e"/>
              </a:rPr>
              <a:t>Notion：侧边栏与页面归属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89766-3EA5-4713-BFE7-F1B1D604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1457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特定新建入口的 Private 默认归属、收藏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62B1C-34D2-4320-B973-24B643B3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adf2348005e4429"/>
              </a:rPr>
              <a:t>Notion：分享与权限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DC5D-BBA1-4A9B-9428-1A8CA1B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继承与授权来源，不能只看一次取消分享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7DE9-7088-45FC-8A2E-1730602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671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230d9c335634364"/>
              </a:rPr>
              <a:t>Notion：Wiki 负责人和验证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51FB4-D459-43C2-B1D9-17E5BF5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8617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维护责任、验证状态；更新时间不等于验证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4AA45-8306-4309-8D72-70586AF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6655e78864c4d66"/>
              </a:rPr>
              <a:t>飞书：文档权限默认值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13D79-42F2-4377-8FAE-95A07F5E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7197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按部门、用户组或成员配置默认规则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41459-90A4-4842-BC55-7A8A12F2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83947f4a4ee4439"/>
              </a:rPr>
              <a:t>Obsidian：本地文件与共享权限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F6CA4-8C8E-4628-9210-A199B39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5777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Markdown 内容形态；共享权限另见备注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ABF2B-EC2A-4D82-ACF7-1DD5ED5B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语雀的默认库使用感受来自用户本人；不推断为企业账号通用规则或企业用户偏好。</a:t>
            </a:r>
          </a:p>
        </p:txBody>
      </p:sp>
    </p:spTree>
    <p:extLst>
      <p:ext uri="{BB962C8B-B14F-4D97-AF65-F5344CB8AC3E}">
        <p14:creationId xmlns:p14="http://schemas.microsoft.com/office/powerpoint/2010/main" val="20935144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72EE6-A507-4149-A757-75C15F3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附录：数据看板的资料依据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52432-E250-4FE8-B3D9-3E1F683A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70839-D052-4EBA-822C-8E6EA511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0e5b20058814e01"/>
              </a:rPr>
              <a:t>Power BI：仪表板与报表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EC442-1131-44F8-BF15-F84E5D1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fb48e07170546e8"/>
              </a:rPr>
              <a:t>Power BI：分享与数据访问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1FDD4-A4A0-43F4-8DB7-3AB459A3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e003e291d444bfa"/>
              </a:rPr>
              <a:t>Metabase：看板组成与交互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7642A-4C39-4ABA-B041-C61BBFFF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d7090d814a544d9"/>
              </a:rPr>
              <a:t>Metabase：钻取的适用条件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9FD36-7B45-48C9-A50E-63659E00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6B52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c9f40a0008f4d8e"/>
              </a:rPr>
              <a:t>Metabase：集合和数据权限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41877-7979-459C-813C-18A8350B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2400" b="1">
                <a:solidFill>
                  <a:srgbClr val="182B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82B25"/>
                </a:solidFill>
                <a:latin typeface="PingFang SC"/>
                <a:ea typeface="PingFang SC"/>
                <a:cs typeface="PingFang SC"/>
              </a:rPr>
              <a:t>证据口径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CCCC1-C02B-4C50-BDDD-2541DBB2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产品事实来自官方资料；具体取舍为建议。</a:t>
            </a:r>
          </a:p>
          <a:p xmlns:a="http://schemas.openxmlformats.org/drawingml/2006/main">
            <a:pPr marL="0" indent="0">
              <a:spcAft>
                <a:spcPts val="450"/>
              </a:spcAft>
              <a:buNone/>
              <a:def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8675F"/>
                </a:solidFill>
                <a:latin typeface="PingFang SC"/>
                <a:ea typeface="PingFang SC"/>
                <a:cs typeface="PingFang SC"/>
              </a:rPr>
              <a:t>持续使用机制为【推测】，需通过真实任务验证。</a:t>
            </a:r>
          </a:p>
        </p:txBody>
      </p:sp>
    </p:spTree>
    <p:extLst>
      <p:ext uri="{BB962C8B-B14F-4D97-AF65-F5344CB8AC3E}">
        <p14:creationId xmlns:p14="http://schemas.microsoft.com/office/powerpoint/2010/main" val="389359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2026-09-09T11:51:52.5580000Z</dcterms:created>
  <dcterms:modified xsi:type="dcterms:W3CDTF">2026-09-09T11:51:52.5580000Z</dcterms:modified>
</coreProperties>
</file>