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dat" ContentType="application/x-fontdata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db26a8f056a44ee" /><Relationship Type="http://schemas.openxmlformats.org/officeDocument/2006/relationships/extended-properties" Target="/docProps/app.xml" Id="R6de4ed1d86f743a1" /><Relationship Type="http://schemas.openxmlformats.org/officeDocument/2006/relationships/officeDocument" Target="/ppt/presentation.xml" Id="R9a4d2d0f2aea45f4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5d9e63611e024676"/>
  </p:sldMasterIdLst>
  <p:notesMasterIdLst>
    <p:notesMasterId xmlns:r="http://schemas.openxmlformats.org/officeDocument/2006/relationships" r:id="Rd36c2f729a104e4e"/>
  </p:notesMasterIdLst>
  <p:sldIdLst>
    <p:sldId xmlns:r="http://schemas.openxmlformats.org/officeDocument/2006/relationships" id="256" r:id="R8fe2d3846e2f4b4b"/>
    <p:sldId xmlns:r="http://schemas.openxmlformats.org/officeDocument/2006/relationships" id="257" r:id="R13b5f4459ad3415e"/>
    <p:sldId xmlns:r="http://schemas.openxmlformats.org/officeDocument/2006/relationships" id="258" r:id="Rf240b9d1cdb4430c"/>
    <p:sldId xmlns:r="http://schemas.openxmlformats.org/officeDocument/2006/relationships" id="259" r:id="Rf21d122dfa2f48db"/>
    <p:sldId xmlns:r="http://schemas.openxmlformats.org/officeDocument/2006/relationships" id="260" r:id="R6d4900ec7dcc45fc"/>
    <p:sldId xmlns:r="http://schemas.openxmlformats.org/officeDocument/2006/relationships" id="261" r:id="R98abc635053a46fe"/>
    <p:sldId xmlns:r="http://schemas.openxmlformats.org/officeDocument/2006/relationships" id="262" r:id="Raf6a7c024a684a7e"/>
    <p:sldId xmlns:r="http://schemas.openxmlformats.org/officeDocument/2006/relationships" id="263" r:id="R40562d241fa5427f"/>
    <p:sldId xmlns:r="http://schemas.openxmlformats.org/officeDocument/2006/relationships" id="264" r:id="R73e19381818748a9"/>
    <p:sldId xmlns:r="http://schemas.openxmlformats.org/officeDocument/2006/relationships" id="265" r:id="R8b91123273424641"/>
    <p:sldId xmlns:r="http://schemas.openxmlformats.org/officeDocument/2006/relationships" id="266" r:id="Rbc9a0eb3e2f84456"/>
    <p:sldId xmlns:r="http://schemas.openxmlformats.org/officeDocument/2006/relationships" id="267" r:id="Rf42abd8fbf984cbe"/>
    <p:sldId xmlns:r="http://schemas.openxmlformats.org/officeDocument/2006/relationships" id="268" r:id="R3ebd8d9e9a904b54"/>
    <p:sldId xmlns:r="http://schemas.openxmlformats.org/officeDocument/2006/relationships" id="269" r:id="R4458f1466e0a47cd"/>
  </p:sldIdLst>
  <p:sldSz cx="12192000" cy="6858000"/>
  <p:notesSz cx="6858000" cy="9144000"/>
  <p:embeddedFontLst>
    <p:embeddedFont>
      <p:font typeface="Inter"/>
      <p:regular xmlns:r="http://schemas.openxmlformats.org/officeDocument/2006/relationships" r:id="R9f2559988d404d75"/>
      <p:bold xmlns:r="http://schemas.openxmlformats.org/officeDocument/2006/relationships" r:id="R126e996392b74734"/>
    </p:embeddedFont>
    <p:embeddedFont>
      <p:font typeface="Inter Medium"/>
      <p:regular xmlns:r="http://schemas.openxmlformats.org/officeDocument/2006/relationships" r:id="R343c6381ce6d40f2"/>
    </p:embeddedFont>
    <p:embeddedFont>
      <p:font typeface="Inter SemiBold"/>
      <p:regular xmlns:r="http://schemas.openxmlformats.org/officeDocument/2006/relationships" r:id="R259eb5f22dc348a1"/>
      <p:bold xmlns:r="http://schemas.openxmlformats.org/officeDocument/2006/relationships" r:id="R770254dbbba54212"/>
    </p:embeddedFont>
    <p:embeddedFont>
      <p:font typeface="OpenAI Sans"/>
      <p:regular xmlns:r="http://schemas.openxmlformats.org/officeDocument/2006/relationships" r:id="Rf4acd4f155284a1e"/>
      <p:bold xmlns:r="http://schemas.openxmlformats.org/officeDocument/2006/relationships" r:id="R45db05ffe2884847"/>
      <p:italic xmlns:r="http://schemas.openxmlformats.org/officeDocument/2006/relationships" r:id="Rf4e56136a5fd4822"/>
      <p:boldItalic xmlns:r="http://schemas.openxmlformats.org/officeDocument/2006/relationships" r:id="R438207f4e56a4c59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ed8bdead17a4154" /><Relationship Type="http://schemas.openxmlformats.org/officeDocument/2006/relationships/slideMaster" Target="/ppt/slideMasters/slideMaster1.xml" Id="R5d9e63611e024676" /><Relationship Type="http://schemas.openxmlformats.org/officeDocument/2006/relationships/notesMaster" Target="/ppt/notesMasters/notesMaster1.xml" Id="Rd36c2f729a104e4e" /><Relationship Type="http://schemas.openxmlformats.org/officeDocument/2006/relationships/presProps" Target="/ppt/presProps.xml" Id="R5da365281d754ae4" /><Relationship Type="http://schemas.openxmlformats.org/officeDocument/2006/relationships/viewProps" Target="/ppt/viewProps.xml" Id="R3d5e19cb21024d43" /><Relationship Type="http://schemas.openxmlformats.org/officeDocument/2006/relationships/tableStyles" Target="/ppt/tableStyles.xml" Id="R30c2c2fcc37c4818" /><Relationship Type="http://schemas.openxmlformats.org/officeDocument/2006/relationships/font" Target="/ppt/fonts/font.dat" Id="R9f2559988d404d75" /><Relationship Type="http://schemas.openxmlformats.org/officeDocument/2006/relationships/font" Target="/ppt/fonts/font2.dat" Id="R126e996392b74734" /><Relationship Type="http://schemas.openxmlformats.org/officeDocument/2006/relationships/font" Target="/ppt/fonts/font3.dat" Id="R343c6381ce6d40f2" /><Relationship Type="http://schemas.openxmlformats.org/officeDocument/2006/relationships/font" Target="/ppt/fonts/font4.dat" Id="R259eb5f22dc348a1" /><Relationship Type="http://schemas.openxmlformats.org/officeDocument/2006/relationships/font" Target="/ppt/fonts/font5.dat" Id="R770254dbbba54212" /><Relationship Type="http://schemas.openxmlformats.org/officeDocument/2006/relationships/font" Target="/ppt/fonts/font6.dat" Id="Rf4acd4f155284a1e" /><Relationship Type="http://schemas.openxmlformats.org/officeDocument/2006/relationships/font" Target="/ppt/fonts/font7.dat" Id="R45db05ffe2884847" /><Relationship Type="http://schemas.openxmlformats.org/officeDocument/2006/relationships/font" Target="/ppt/fonts/font8.dat" Id="Rf4e56136a5fd4822" /><Relationship Type="http://schemas.openxmlformats.org/officeDocument/2006/relationships/font" Target="/ppt/fonts/font9.dat" Id="R438207f4e56a4c59" /><Relationship Type="http://schemas.openxmlformats.org/officeDocument/2006/relationships/slide" Target="/ppt/slides/slide1.xml" Id="R8fe2d3846e2f4b4b" /><Relationship Type="http://schemas.openxmlformats.org/officeDocument/2006/relationships/slide" Target="/ppt/slides/slide2.xml" Id="R13b5f4459ad3415e" /><Relationship Type="http://schemas.openxmlformats.org/officeDocument/2006/relationships/slide" Target="/ppt/slides/slide3.xml" Id="Rf240b9d1cdb4430c" /><Relationship Type="http://schemas.openxmlformats.org/officeDocument/2006/relationships/slide" Target="/ppt/slides/slide4.xml" Id="Rf21d122dfa2f48db" /><Relationship Type="http://schemas.openxmlformats.org/officeDocument/2006/relationships/slide" Target="/ppt/slides/slide5.xml" Id="R6d4900ec7dcc45fc" /><Relationship Type="http://schemas.openxmlformats.org/officeDocument/2006/relationships/slide" Target="/ppt/slides/slide6.xml" Id="R98abc635053a46fe" /><Relationship Type="http://schemas.openxmlformats.org/officeDocument/2006/relationships/slide" Target="/ppt/slides/slide7.xml" Id="Raf6a7c024a684a7e" /><Relationship Type="http://schemas.openxmlformats.org/officeDocument/2006/relationships/slide" Target="/ppt/slides/slide8.xml" Id="R40562d241fa5427f" /><Relationship Type="http://schemas.openxmlformats.org/officeDocument/2006/relationships/slide" Target="/ppt/slides/slide9.xml" Id="R73e19381818748a9" /><Relationship Type="http://schemas.openxmlformats.org/officeDocument/2006/relationships/slide" Target="/ppt/slides/slide10.xml" Id="R8b91123273424641" /><Relationship Type="http://schemas.openxmlformats.org/officeDocument/2006/relationships/slide" Target="/ppt/slides/slide11.xml" Id="Rbc9a0eb3e2f84456" /><Relationship Type="http://schemas.openxmlformats.org/officeDocument/2006/relationships/slide" Target="/ppt/slides/slide12.xml" Id="Rf42abd8fbf984cbe" /><Relationship Type="http://schemas.openxmlformats.org/officeDocument/2006/relationships/slide" Target="/ppt/slides/slide13.xml" Id="R3ebd8d9e9a904b54" /><Relationship Type="http://schemas.openxmlformats.org/officeDocument/2006/relationships/slide" Target="/ppt/slides/slide14.xml" Id="R4458f1466e0a47c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45b9e39b28e471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Default Codex Theme">
  <a:themeElements>
    <a:clrScheme name="Color Block Theme">
      <a:dk1>
        <a:srgbClr val="000000"/>
      </a:dk1>
      <a:lt1>
        <a:srgbClr val="FFFFFF"/>
      </a:lt1>
      <a:dk2>
        <a:srgbClr val="393939"/>
      </a:dk2>
      <a:lt2>
        <a:srgbClr val="F5F5F5"/>
      </a:lt2>
      <a:accent1>
        <a:srgbClr val="2ED978"/>
      </a:accent1>
      <a:accent2>
        <a:srgbClr val="9FB6FE"/>
      </a:accent2>
      <a:accent3>
        <a:srgbClr val="F3F161"/>
      </a:accent3>
      <a:accent4>
        <a:srgbClr val="FF5F27"/>
      </a:accent4>
      <a:accent5>
        <a:srgbClr val="5EC4FF"/>
      </a:accent5>
      <a:accent6>
        <a:srgbClr val="3C7DA3"/>
      </a:accent6>
      <a:hlink>
        <a:srgbClr val="FFA83A"/>
      </a:hlink>
      <a:folHlink>
        <a:srgbClr val="96607D"/>
      </a:folHlink>
    </a:clrScheme>
    <a:fontScheme name="Inter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Color Block Them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deb44ddca3544c2" /><Relationship Type="http://schemas.openxmlformats.org/officeDocument/2006/relationships/notesMaster" Target="/ppt/notesMasters/notesMaster1.xml" Id="Ra1fc622f984f4e2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691c551f53c405e" /><Relationship Type="http://schemas.openxmlformats.org/officeDocument/2006/relationships/notesMaster" Target="/ppt/notesMasters/notesMaster1.xml" Id="R71d7ead311e4403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5e3703b39514d5b" /><Relationship Type="http://schemas.openxmlformats.org/officeDocument/2006/relationships/notesMaster" Target="/ppt/notesMasters/notesMaster1.xml" Id="Rcd12c5b36825467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e1a0e9b60c646b8" /><Relationship Type="http://schemas.openxmlformats.org/officeDocument/2006/relationships/notesMaster" Target="/ppt/notesMasters/notesMaster1.xml" Id="Rb80bd95754554f8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8b2513076e64378" /><Relationship Type="http://schemas.openxmlformats.org/officeDocument/2006/relationships/notesMaster" Target="/ppt/notesMasters/notesMaster1.xml" Id="R17f83539818f469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b7a7a8631d94bbb" /><Relationship Type="http://schemas.openxmlformats.org/officeDocument/2006/relationships/notesMaster" Target="/ppt/notesMasters/notesMaster1.xml" Id="R015984c66917419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a1e22529d8c4d70" /><Relationship Type="http://schemas.openxmlformats.org/officeDocument/2006/relationships/notesMaster" Target="/ppt/notesMasters/notesMaster1.xml" Id="R2fd268a22969443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95c63b917c84536" /><Relationship Type="http://schemas.openxmlformats.org/officeDocument/2006/relationships/notesMaster" Target="/ppt/notesMasters/notesMaster1.xml" Id="Rccc38057d34243f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1fd268b0e534ef9" /><Relationship Type="http://schemas.openxmlformats.org/officeDocument/2006/relationships/notesMaster" Target="/ppt/notesMasters/notesMaster1.xml" Id="Rcf7e8660055b485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217921bf9054168" /><Relationship Type="http://schemas.openxmlformats.org/officeDocument/2006/relationships/notesMaster" Target="/ppt/notesMasters/notesMaster1.xml" Id="R09f478989805405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452113b7cd940ed" /><Relationship Type="http://schemas.openxmlformats.org/officeDocument/2006/relationships/notesMaster" Target="/ppt/notesMasters/notesMaster1.xml" Id="R0dfe18673e1044e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0ef2bd42e55424c" /><Relationship Type="http://schemas.openxmlformats.org/officeDocument/2006/relationships/notesMaster" Target="/ppt/notesMasters/notesMaster1.xml" Id="R43d27a44981d407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d5e8d31e3ed4a54" /><Relationship Type="http://schemas.openxmlformats.org/officeDocument/2006/relationships/notesMaster" Target="/ppt/notesMasters/notesMaster1.xml" Id="R9c68a940074b4eb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73f5d6d5f714e07" /><Relationship Type="http://schemas.openxmlformats.org/officeDocument/2006/relationships/notesMaster" Target="/ppt/notesMasters/notesMaster1.xml" Id="R33ca3e435d334eb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汇报范围为知识类产品与数据看板。依据用户最新口述，销售漏斗暂不纳入本次汇报。已有报告中的一期定位、Markdown 主线和架构推断不作为本轮已确认需求。建议正文约10分钟，来源附录按需查阅。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资料日期：2026-09-09。</a:t>
            </a:r>
            <a:endParaRPr/>
          </a:p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本次把原有知识产品观察与权限补查结合，同时展示两款数据看板的初步机制对比。个人使用反馈、官方说明、分析判断分别标注。此次尚未使用统一测试账号验证权限、性能或任务完成率。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资料日期：2026-09-09。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前期报告作为已有材料使用。保留竞品机制观察，不沿用其中已确认一期或架构性表述。语雀默认知识库行为来自用户本人反馈，不视为企业用户结论。有道与GitBook相关条目沿用前期查阅记录，当前账号与套餐未实测。Obsidian 共享权限本次复核。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资料日期：2026-09-09。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1. https://www.notion.com/help/import-data-into-notion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2. https://www.notion.com/help/writing-and-editing-basics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3. https://www.feishu.cn/hc/zh-CN/articles/780474929438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4. https://www.yuque.com/yuque/thyzgp/vlki63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5. https://obsidian.md/help/import/markdown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6. https://obsidian.md/help/sync/collaborate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7. https://note.youdao.com/help-center/changelog_mac.html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8. https://gitbook.com/docs/creating-content/content-structure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用户本人明确表示喜欢语雀的知识库处理，同时说明不能代表企业用户和领导偏好。截图只证明可见界面中的知识库组织，不单独证明未选库时的新建行为。图片内嵌，无需项目图片目录。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资料日期：2026-09-09。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飞书官方帮助说明管理员可按全局或指定部门、用户组、成员设置文档权限默认值。Notion 官方说明页面授权等级、继承、覆盖和撤销，多个授权来源可能影响最终权限。Obsidian 共享 Vault 官方明确暂不支持细粒度权限，协作者与所有者权限相同但只有所有者可邀请。此页只比较已查到的机制，不声称完成权限实测。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资料日期：2026-09-09。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1. https://www.feishu.cn/hc/zh-CN/articles/265017155035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2. https://www.notion.com/en-gb/help/sharing-and-permissions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3. https://obsidian.md/help/sync/collaborate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这是下一轮候选验证任务，尚未执行。测试材料与人员边界是工作示例，不是业务已确认需求。AI 问答按竞品是否提供及可用账号条件单独验证，不能根据页面权限推断问答必然遵守同样边界。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资料日期：2026-09-09。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本页是本轮调研问题清单。数据看板样本为Power BI和Metabase，不声称覆盖全部BI市场。指标和数据源尚未由业务指定，因此暂不比较真实计算准确率、刷新耗时或建设工期。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资料日期：2026-09-09。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Metabase官方说明看板组合相关查询、支持筛选及自定义点击行为。钻取要求对底层数据拥有创建查询权限；查询改写类钻取适用于查询构建器，不能把所有原生SQL图表都当作同等可钻取。截图来自官方帮助，不用于分析其中的业务数字。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资料日期：2026-09-09。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1. https://www.metabase.com/docs/latest/dashboards/introduction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2. https://www.metabase.com/docs/latest/dashboards/filters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3. https://www.metabase.com/docs/latest/questions/visualizations/drill-through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4. https://www.metabase.com/docs/latest/dashboards/images/interactive-dashboard.png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Power BI 官方区别：Dashboard 单页汇总，Report 可多页；普通Dashboard不可像Report一样筛选或切片，固定整张报表页存在特殊行为。因此本页未宣称Power BI仪表板完全无交互。Metabase数据权限与集合权限分开；多组成员取得其中更宽的访问。使用代价是分析判断，不是计时实测。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资料日期：2026-09-09。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1. https://learn.microsoft.com/en-us/power-bi/create-reports/service-dashboards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2. https://learn.microsoft.com/en-us/power-bi/collaborate-share/service-share-dashboards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3. https://www.metabase.com/docs/latest/dashboards/introduction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4. https://www.metabase.com/docs/latest/questions/visualizations/drill-through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5. https://www.metabase.com/docs/latest/permissions/introduction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6. https://www.metabase.com/docs/latest/permissions/data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此页是候选试验，并非已完成结果或本项目确定的权限矩阵。Power BI官方指出隐藏页面或字段并不等于限制数据访问。Metabase区分数据权限与集合权限，行列范围和下载限制存在套餐边界。应分别用普通员工与负责人账号核对结果。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资料日期：2026-09-09。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1. https://learn.microsoft.com/en-us/power-bi/collaborate-share/service-share-dashboards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2. https://www.metabase.com/docs/latest/permissions/introduction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3. https://www.metabase.com/docs/latest/permissions/data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本页是依据已查机制提出的条件性分析，不是选型排名或需求承诺。知识类与看板可采用相同观察思路，但不因此推断需要统一产品架构。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资料日期：2026-09-09。</a:t>
            </a:r>
          </a:p>
          <a:p xmlns:a="http://schemas.openxmlformats.org/drawingml/2006/main">
            <a:r>
              <a:t>1. https://www.feishu.cn/hc/zh-CN/articles/265017155035</a:t>
            </a:r>
          </a:p>
          <a:p xmlns:a="http://schemas.openxmlformats.org/drawingml/2006/main">
            <a:r>
              <a:t>2. https://www.notion.com/en-gb/help/sharing-and-permissions</a:t>
            </a:r>
          </a:p>
          <a:p xmlns:a="http://schemas.openxmlformats.org/drawingml/2006/main">
            <a:r>
              <a:t>3. https://www.metabase.com/docs/latest/dashboards/filters</a:t>
            </a:r>
          </a:p>
          <a:p xmlns:a="http://schemas.openxmlformats.org/drawingml/2006/main">
            <a:r>
              <a:t>4. https://www.metabase.com/docs/latest/questions/visualizations/drill-through</a:t>
            </a:r>
          </a:p>
          <a:p xmlns:a="http://schemas.openxmlformats.org/drawingml/2006/main">
            <a:r>
              <a:t>5. https://learn.microsoft.com/en-us/power-bi/collaborate-share/service-share-dashboards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本页请领导确认调研评价标准及下一轮样本任务。问题均基于当前口述信息仍未明确的内容，不预设完整企业Agent架构，也不提出开发排期。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资料日期：2026-09-09。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本次复核Notion、飞书与Obsidian权限相关公开说明。语雀目录、GitBook和有道维护观察沿用前期查阅记录，未作当前账号实测；语雀权限页面本次访问未成功，未在权限对比页补写未经复核的结论。个人语雀图由用户提供。原项目文档中的一期设计意见未视为已确认需求。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资料日期：2026-09-09。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1. https://www.notion.com/en-gb/help/sharing-and-permissions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2. https://www.feishu.cn/hc/zh-CN/articles/265017155035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3. https://www.feishu.cn/hc/zh-CN/articles/780474929438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4. https://obsidian.md/help/sync/collaborate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5. https://www.yuque.com/yuque/thyzgp/vlki63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6. https://gitbook.com/docs/creating-content/content-structure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7. https://note.youdao.com/help-center/changelog_mac.html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8. https://www.yuque.com/yuque/thyzgp/qnxyk7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9. https://note.youdao.com/help-center/changelog_mac.html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10. https://www.notion.com/help/import-data-into-notion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11. https://www.notion.com/help/writing-and-editing-basics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12. https://obsidian.md/help/import/markdown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所有外部事实以列出的官方资料为依据。Metabase行列数据限制、下载控制等能力存在Pro/Enterprise套餐限制，不能假设免费版可完整验证。Power BI分享与协作也有许可及容量要求。未执行真实企业数据接入、权限穿透或性能测试。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资料日期：2026-09-09。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1. https://learn.microsoft.com/en-us/power-bi/create-reports/service-dashboards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2. https://learn.microsoft.com/en-us/power-bi/collaborate-share/service-share-dashboards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3. https://www.metabase.com/docs/latest/dashboards/introduction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4. https://www.metabase.com/docs/latest/dashboards/filters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5. https://www.metabase.com/docs/latest/questions/visualizations/drill-through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6. https://www.metabase.com/docs/latest/permissions/introduction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7. https://www.metabase.com/docs/latest/permissions/data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8. https://www.metabase.com/docs/latest/dashboards/images/interactive-dashboard.png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d3c8d0f245487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030e19135a4df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f845e3b76a4b6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898ea0a0e84b5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0f1cac6a6044dc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8d14b810074efd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5968230ab54a6a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5da9f8efa848bc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f015bc882946b8" /><Relationship Type="http://schemas.openxmlformats.org/officeDocument/2006/relationships/image" Target="/ppt/media/image.png" Id="R8d1f01bb7bb34b1d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ccc9b8f8234c41" /><Relationship Type="http://schemas.openxmlformats.org/officeDocument/2006/relationships/image" Target="/ppt/media/image2.png" Id="Ra83c958b5cbf407c" /></Relationships>
</file>

<file path=ppt/slideLayouts/slideLayout1.xml><?xml version="1.0" encoding="utf-8"?>
<p:sldLayout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83004A5-B645-655E-5362-4217D55892E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041400"/>
            <a:ext cx="7493000" cy="249149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6000" b="1" i="0">
                <a:solidFill>
                  <a:schemeClr val="accent1"/>
                </a:solidFill>
                <a:latin typeface="Inter SemiBold"/>
                <a:ea typeface="Inter SemiBold"/>
                <a:cs typeface="Inter SemiBold"/>
              </a:defRPr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C57031B1-59B2-C235-9FDD-8050418A5FD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356100"/>
            <a:ext cx="5537200" cy="16383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E851FDE-9E0B-568C-1CBA-E72B86CC06E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9CCD18F-3BF6-A3EE-DAAE-66BD406D7E8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0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186992D-ADA6-5A23-EBD5-6BEF0A2E61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CDBB333F-FFCF-AA9E-7AC0-64DB02353F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DCC3060-FADA-4310-30F9-24EC34B5AA8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9E7B047-08E6-29C1-F101-C084D555A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DE564C6-8AA0-935D-A919-07AFA15B335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12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ABE46D3-8F05-1C7F-3EC7-20BFCC76C251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6256618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39D2C21-36BF-25E7-8E97-1D17F313F7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14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0E090C5-E6C8-92F2-E8C2-A840B8F1807D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5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C6D2D15-AEC2-9F99-316F-C37AF863965D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4826000"/>
            <a:ext cx="2595934" cy="116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952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4F70A9DA-D783-0627-3166-E13B68C2ADAC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3334966" y="4826000"/>
            <a:ext cx="2595934" cy="11684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5BF2647-8E8C-CAEE-896D-0E1567AF7E99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6264413" y="4826000"/>
            <a:ext cx="2595934" cy="116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0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37C6F143-221A-9959-8FBA-B9B1DB6602D0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9205679" y="4826000"/>
            <a:ext cx="2595934" cy="11684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B1182C5-F22B-2641-06DE-4EDACA3C1DD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97A4AD5-204B-38FD-4F33-270C2F9F5CC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5CF9983-3FD7-FAE4-9F0B-B2CE806D89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012CBCC-C555-8C11-443D-86D6F7A45C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8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69B260B-B882-BF7F-1BB1-28B9578A25A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9.xml><?xml version="1.0" encoding="utf-8"?>
<p:sldLayout xmlns:p="http://schemas.openxmlformats.org/presentationml/2006/main" preserve="1" userDrawn="1">
  <p:cSld name="36 Field Grid">
    <p:bg>
      <p:bgPr>
        <a:blipFill xmlns:a="http://schemas.openxmlformats.org/drawingml/2006/main" rotWithShape="1">
          <a:blip xmlns:r="http://schemas.openxmlformats.org/officeDocument/2006/relationships" r:embed="R8d1f01bb7bb34b1d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0.xml><?xml version="1.0" encoding="utf-8"?>
<p:sldLayout xmlns:p="http://schemas.openxmlformats.org/presentationml/2006/main" preserve="1" userDrawn="1">
  <p:cSld name="48 Field Grid">
    <p:bg>
      <p:bgPr>
        <a:blipFill xmlns:a="http://schemas.openxmlformats.org/drawingml/2006/main" rotWithShape="1">
          <a:blip xmlns:r="http://schemas.openxmlformats.org/officeDocument/2006/relationships" r:embed="Ra83c958b5cbf407c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d7c098005fb4f0f" /><Relationship Type="http://schemas.openxmlformats.org/officeDocument/2006/relationships/slideLayout" Target="/ppt/slideLayouts/slideLayout1.xml" Id="R65d2677f955c418b" /><Relationship Type="http://schemas.openxmlformats.org/officeDocument/2006/relationships/slideLayout" Target="/ppt/slideLayouts/slideLayout2.xml" Id="Rb6c8b17a4ee949dc" /><Relationship Type="http://schemas.openxmlformats.org/officeDocument/2006/relationships/slideLayout" Target="/ppt/slideLayouts/slideLayout3.xml" Id="R8183900e9a484c52" /><Relationship Type="http://schemas.openxmlformats.org/officeDocument/2006/relationships/slideLayout" Target="/ppt/slideLayouts/slideLayout4.xml" Id="R438d9a57104944e6" /><Relationship Type="http://schemas.openxmlformats.org/officeDocument/2006/relationships/slideLayout" Target="/ppt/slideLayouts/slideLayout5.xml" Id="R0bc75b26de5a4d98" /><Relationship Type="http://schemas.openxmlformats.org/officeDocument/2006/relationships/slideLayout" Target="/ppt/slideLayouts/slideLayout6.xml" Id="Ra7331adba7f64c00" /><Relationship Type="http://schemas.openxmlformats.org/officeDocument/2006/relationships/slideLayout" Target="/ppt/slideLayouts/slideLayout7.xml" Id="R9b7211fd4cc74662" /><Relationship Type="http://schemas.openxmlformats.org/officeDocument/2006/relationships/slideLayout" Target="/ppt/slideLayouts/slideLayout8.xml" Id="R6c83e387a7564288" /><Relationship Type="http://schemas.openxmlformats.org/officeDocument/2006/relationships/slideLayout" Target="/ppt/slideLayouts/slideLayout9.xml" Id="Rc42f1e79eb1844bd" /><Relationship Type="http://schemas.openxmlformats.org/officeDocument/2006/relationships/slideLayout" Target="/ppt/slideLayouts/slideLayout10.xml" Id="R6572f7e05f974fe9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BB87ED2E-D8FF-5C8C-ED50-59BA3091C3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5B0E1CB-6DCA-2E9F-2B74-4309B4084C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75650C-2983-5B02-8421-FF181843543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872C88C-1AB3-96BA-C9E5-3435A4BD59B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5d2677f955c418b"/>
    <p:sldLayoutId xmlns:r="http://schemas.openxmlformats.org/officeDocument/2006/relationships" id="2147483650" r:id="Rb6c8b17a4ee949dc"/>
    <p:sldLayoutId xmlns:r="http://schemas.openxmlformats.org/officeDocument/2006/relationships" id="2147483651" r:id="R8183900e9a484c52"/>
    <p:sldLayoutId xmlns:r="http://schemas.openxmlformats.org/officeDocument/2006/relationships" id="2147483652" r:id="R438d9a57104944e6"/>
    <p:sldLayoutId xmlns:r="http://schemas.openxmlformats.org/officeDocument/2006/relationships" id="2147483653" r:id="R0bc75b26de5a4d98"/>
    <p:sldLayoutId xmlns:r="http://schemas.openxmlformats.org/officeDocument/2006/relationships" id="2147483654" r:id="Ra7331adba7f64c00"/>
    <p:sldLayoutId xmlns:r="http://schemas.openxmlformats.org/officeDocument/2006/relationships" id="2147483655" r:id="R9b7211fd4cc74662"/>
    <p:sldLayoutId xmlns:r="http://schemas.openxmlformats.org/officeDocument/2006/relationships" id="2147483656" r:id="R6c83e387a7564288"/>
    <p:sldLayoutId xmlns:r="http://schemas.openxmlformats.org/officeDocument/2006/relationships" id="2147483657" r:id="Rc42f1e79eb1844bd"/>
    <p:sldLayoutId xmlns:r="http://schemas.openxmlformats.org/officeDocument/2006/relationships" id="2147483658" r:id="R6572f7e05f974fe9"/>
  </p:sldLayoutIdLst>
  <p:hf hd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2900" b="0" i="0" kern="1200">
          <a:solidFill>
            <a:schemeClr val="tx1"/>
          </a:solidFill>
          <a:latin typeface="Inter Medium"/>
          <a:ea typeface="Inter Medium"/>
          <a:cs typeface="Inter Medium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xmlns:a="http://schemas.openxmlformats.org/drawingml/2006/main" val="F26B43"/>
          </p15:clr>
        </p15:guide>
        <p15:guide id="2" pos="7680" userDrawn="1">
          <p15:clr>
            <a:srgbClr xmlns:a="http://schemas.openxmlformats.org/drawingml/2006/main" val="F26B43"/>
          </p15:clr>
        </p15:guide>
        <p15:guide id="3" pos="248" userDrawn="1">
          <p15:clr>
            <a:srgbClr xmlns:a="http://schemas.openxmlformats.org/drawingml/2006/main" val="F26B43"/>
          </p15:clr>
        </p15:guide>
        <p15:guide id="4" pos="1264" userDrawn="1">
          <p15:clr>
            <a:srgbClr xmlns:a="http://schemas.openxmlformats.org/drawingml/2006/main" val="F26B43"/>
          </p15:clr>
        </p15:guide>
        <p15:guide id="5" pos="1480" userDrawn="1">
          <p15:clr>
            <a:srgbClr xmlns:a="http://schemas.openxmlformats.org/drawingml/2006/main" val="F26B43"/>
          </p15:clr>
        </p15:guide>
        <p15:guide id="6" pos="2496" userDrawn="1">
          <p15:clr>
            <a:srgbClr xmlns:a="http://schemas.openxmlformats.org/drawingml/2006/main" val="F26B43"/>
          </p15:clr>
        </p15:guide>
        <p15:guide id="7" pos="2712" userDrawn="1">
          <p15:clr>
            <a:srgbClr xmlns:a="http://schemas.openxmlformats.org/drawingml/2006/main" val="F26B43"/>
          </p15:clr>
        </p15:guide>
        <p15:guide id="8" pos="3736" userDrawn="1">
          <p15:clr>
            <a:srgbClr xmlns:a="http://schemas.openxmlformats.org/drawingml/2006/main" val="F26B43"/>
          </p15:clr>
        </p15:guide>
        <p15:guide id="9" pos="3944" userDrawn="1">
          <p15:clr>
            <a:srgbClr xmlns:a="http://schemas.openxmlformats.org/drawingml/2006/main" val="F26B43"/>
          </p15:clr>
        </p15:guide>
        <p15:guide id="10" pos="4968" userDrawn="1">
          <p15:clr>
            <a:srgbClr xmlns:a="http://schemas.openxmlformats.org/drawingml/2006/main" val="F26B43"/>
          </p15:clr>
        </p15:guide>
        <p15:guide id="11" pos="5184" userDrawn="1">
          <p15:clr>
            <a:srgbClr xmlns:a="http://schemas.openxmlformats.org/drawingml/2006/main" val="F26B43"/>
          </p15:clr>
        </p15:guide>
        <p15:guide id="12" pos="6200" userDrawn="1">
          <p15:clr>
            <a:srgbClr xmlns:a="http://schemas.openxmlformats.org/drawingml/2006/main" val="F26B43"/>
          </p15:clr>
        </p15:guide>
        <p15:guide id="13" pos="6416" userDrawn="1">
          <p15:clr>
            <a:srgbClr xmlns:a="http://schemas.openxmlformats.org/drawingml/2006/main" val="F26B43"/>
          </p15:clr>
        </p15:guide>
        <p15:guide id="14" pos="7432" userDrawn="1">
          <p15:clr>
            <a:srgbClr xmlns:a="http://schemas.openxmlformats.org/drawingml/2006/main" val="F26B43"/>
          </p15:clr>
        </p15:guide>
        <p15:guide id="15" orient="horz" userDrawn="1">
          <p15:clr>
            <a:srgbClr xmlns:a="http://schemas.openxmlformats.org/drawingml/2006/main" val="F26B43"/>
          </p15:clr>
        </p15:guide>
        <p15:guide id="17" orient="horz" pos="248" userDrawn="1">
          <p15:clr>
            <a:srgbClr xmlns:a="http://schemas.openxmlformats.org/drawingml/2006/main" val="F26B43"/>
          </p15:clr>
        </p15:guide>
        <p15:guide id="18" orient="horz" pos="656" userDrawn="1">
          <p15:clr>
            <a:srgbClr xmlns:a="http://schemas.openxmlformats.org/drawingml/2006/main" val="F26B43"/>
          </p15:clr>
        </p15:guide>
        <p15:guide id="19" orient="horz" pos="872" userDrawn="1">
          <p15:clr>
            <a:srgbClr xmlns:a="http://schemas.openxmlformats.org/drawingml/2006/main" val="F26B43"/>
          </p15:clr>
        </p15:guide>
        <p15:guide id="20" orient="horz" pos="1280" userDrawn="1">
          <p15:clr>
            <a:srgbClr xmlns:a="http://schemas.openxmlformats.org/drawingml/2006/main" val="F26B43"/>
          </p15:clr>
        </p15:guide>
        <p15:guide id="21" orient="horz" pos="1496" userDrawn="1">
          <p15:clr>
            <a:srgbClr xmlns:a="http://schemas.openxmlformats.org/drawingml/2006/main" val="F26B43"/>
          </p15:clr>
        </p15:guide>
        <p15:guide id="22" orient="horz" pos="1904" userDrawn="1">
          <p15:clr>
            <a:srgbClr xmlns:a="http://schemas.openxmlformats.org/drawingml/2006/main" val="F26B43"/>
          </p15:clr>
        </p15:guide>
        <p15:guide id="23" orient="horz" pos="2120" userDrawn="1">
          <p15:clr>
            <a:srgbClr xmlns:a="http://schemas.openxmlformats.org/drawingml/2006/main" val="F26B43"/>
          </p15:clr>
        </p15:guide>
        <p15:guide id="24" orient="horz" pos="2528" userDrawn="1">
          <p15:clr>
            <a:srgbClr xmlns:a="http://schemas.openxmlformats.org/drawingml/2006/main" val="F26B43"/>
          </p15:clr>
        </p15:guide>
        <p15:guide id="25" orient="horz" pos="2744" userDrawn="1">
          <p15:clr>
            <a:srgbClr xmlns:a="http://schemas.openxmlformats.org/drawingml/2006/main" val="F26B43"/>
          </p15:clr>
        </p15:guide>
        <p15:guide id="26" orient="horz" pos="3152" userDrawn="1">
          <p15:clr>
            <a:srgbClr xmlns:a="http://schemas.openxmlformats.org/drawingml/2006/main" val="F26B43"/>
          </p15:clr>
        </p15:guide>
        <p15:guide id="27" orient="horz" pos="3368" userDrawn="1">
          <p15:clr>
            <a:srgbClr xmlns:a="http://schemas.openxmlformats.org/drawingml/2006/main" val="F26B43"/>
          </p15:clr>
        </p15:guide>
        <p15:guide id="28" orient="horz" pos="3776" userDrawn="1">
          <p15:clr>
            <a:srgbClr xmlns:a="http://schemas.openxmlformats.org/drawingml/2006/main" val="F26B43"/>
          </p15:clr>
        </p15:guide>
        <p15:guide id="29" orient="horz" pos="4088" userDrawn="1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Default Codex Theme">
  <a:themeElements>
    <a:clrScheme name="Color Block Theme">
      <a:dk1>
        <a:srgbClr val="000000"/>
      </a:dk1>
      <a:lt1>
        <a:srgbClr val="FFFFFF"/>
      </a:lt1>
      <a:dk2>
        <a:srgbClr val="393939"/>
      </a:dk2>
      <a:lt2>
        <a:srgbClr val="F5F5F5"/>
      </a:lt2>
      <a:accent1>
        <a:srgbClr val="2ED978"/>
      </a:accent1>
      <a:accent2>
        <a:srgbClr val="9FB6FE"/>
      </a:accent2>
      <a:accent3>
        <a:srgbClr val="F3F161"/>
      </a:accent3>
      <a:accent4>
        <a:srgbClr val="FF5F27"/>
      </a:accent4>
      <a:accent5>
        <a:srgbClr val="5EC4FF"/>
      </a:accent5>
      <a:accent6>
        <a:srgbClr val="3C7DA3"/>
      </a:accent6>
      <a:hlink>
        <a:srgbClr val="FFA83A"/>
      </a:hlink>
      <a:folHlink>
        <a:srgbClr val="96607D"/>
      </a:folHlink>
    </a:clrScheme>
    <a:fontScheme name="Inter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Color Block Them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47498e9a224591" /><Relationship Type="http://schemas.openxmlformats.org/officeDocument/2006/relationships/image" Target="/ppt/media/image3.png" Id="R1650e03effe1413c" /><Relationship Type="http://schemas.openxmlformats.org/officeDocument/2006/relationships/notesSlide" Target="/ppt/notesSlides/notesSlide1.xml" Id="R73607a1f861f450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0dbbe57c531454d" /><Relationship Type="http://schemas.openxmlformats.org/officeDocument/2006/relationships/notesSlide" Target="/ppt/notesSlides/notesSlide2.xml" Id="R4eaffa26f988499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29c53557c934579" /><Relationship Type="http://schemas.openxmlformats.org/officeDocument/2006/relationships/notesSlide" Target="/ppt/notesSlides/notesSlide3.xml" Id="Rf3836114acf641e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c26d5d2bc694e2a" /><Relationship Type="http://schemas.openxmlformats.org/officeDocument/2006/relationships/image" Target="/ppt/media/image4.png" Id="R5b99eb79c9e74465" /><Relationship Type="http://schemas.openxmlformats.org/officeDocument/2006/relationships/notesSlide" Target="/ppt/notesSlides/notesSlide4.xml" Id="R92920464dfbd427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73e72b649a74746" /><Relationship Type="http://schemas.openxmlformats.org/officeDocument/2006/relationships/notesSlide" Target="/ppt/notesSlides/notesSlide5.xml" Id="R8cf8996ea1274a6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475a323446b46d6" /><Relationship Type="http://schemas.openxmlformats.org/officeDocument/2006/relationships/notesSlide" Target="/ppt/notesSlides/notesSlide6.xml" Id="R21e5d317890e457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e9e6948346dd4b7d" /><Relationship Type="http://schemas.openxmlformats.org/officeDocument/2006/relationships/notesSlide" Target="/ppt/notesSlides/notesSlide7.xml" Id="R36c0cc221ad2406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0c4617d003f4e53" /><Relationship Type="http://schemas.openxmlformats.org/officeDocument/2006/relationships/image" Target="/ppt/media/image5.png" Id="R945ba47934cf480e" /><Relationship Type="http://schemas.openxmlformats.org/officeDocument/2006/relationships/notesSlide" Target="/ppt/notesSlides/notesSlide8.xml" Id="Re6a8f6d2c96b4d2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ea4ccc42a3d4b61" /><Relationship Type="http://schemas.openxmlformats.org/officeDocument/2006/relationships/notesSlide" Target="/ppt/notesSlides/notesSlide9.xml" Id="R47112c3a98964c8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4616125561a4a6b" /><Relationship Type="http://schemas.openxmlformats.org/officeDocument/2006/relationships/notesSlide" Target="/ppt/notesSlides/notesSlide10.xml" Id="Rfb05ffb39b654ce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7ee2ca000ab74d40" /><Relationship Type="http://schemas.openxmlformats.org/officeDocument/2006/relationships/notesSlide" Target="/ppt/notesSlides/notesSlide11.xml" Id="Rb7cfb012d23d405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4f8bb070bc74bb0" /><Relationship Type="http://schemas.openxmlformats.org/officeDocument/2006/relationships/notesSlide" Target="/ppt/notesSlides/notesSlide12.xml" Id="R038292cf3ca54ab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a250385561b4231" /><Relationship Type="http://schemas.openxmlformats.org/officeDocument/2006/relationships/hyperlink" Target="https://www.notion.com/en-gb/help/sharing-and-permissions" TargetMode="External" Id="Rbd6b0f27b0f54b75" /><Relationship Type="http://schemas.openxmlformats.org/officeDocument/2006/relationships/hyperlink" Target="https://www.feishu.cn/hc/zh-CN/articles/265017155035" TargetMode="External" Id="R3b13e73c6743434d" /><Relationship Type="http://schemas.openxmlformats.org/officeDocument/2006/relationships/hyperlink" Target="https://www.feishu.cn/hc/zh-CN/articles/780474929438" TargetMode="External" Id="R8ebe9c8502fd4d1f" /><Relationship Type="http://schemas.openxmlformats.org/officeDocument/2006/relationships/hyperlink" Target="https://obsidian.md/help/sync/collaborate" TargetMode="External" Id="Ra26b7e840857485c" /><Relationship Type="http://schemas.openxmlformats.org/officeDocument/2006/relationships/hyperlink" Target="https://www.yuque.com/yuque/thyzgp/vlki63" TargetMode="External" Id="Reb398715fe024a05" /><Relationship Type="http://schemas.openxmlformats.org/officeDocument/2006/relationships/hyperlink" Target="https://gitbook.com/docs/creating-content/content-structure" TargetMode="External" Id="R86c74665ae9d4230" /><Relationship Type="http://schemas.openxmlformats.org/officeDocument/2006/relationships/hyperlink" Target="https://note.youdao.com/help-center/changelog_mac.html" TargetMode="External" Id="R95542b4b13da47da" /><Relationship Type="http://schemas.openxmlformats.org/officeDocument/2006/relationships/notesSlide" Target="/ppt/notesSlides/notesSlide13.xml" Id="R5482951b0814453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3bd3da1fc794fa6" /><Relationship Type="http://schemas.openxmlformats.org/officeDocument/2006/relationships/hyperlink" Target="https://learn.microsoft.com/en-us/power-bi/create-reports/service-dashboards" TargetMode="External" Id="Rfeb58c979cc34cd8" /><Relationship Type="http://schemas.openxmlformats.org/officeDocument/2006/relationships/hyperlink" Target="https://learn.microsoft.com/en-us/power-bi/collaborate-share/service-share-dashboards" TargetMode="External" Id="R6b89f1d8136846d2" /><Relationship Type="http://schemas.openxmlformats.org/officeDocument/2006/relationships/hyperlink" Target="https://www.metabase.com/docs/latest/dashboards/introduction" TargetMode="External" Id="R5c7b12f6b737419f" /><Relationship Type="http://schemas.openxmlformats.org/officeDocument/2006/relationships/hyperlink" Target="https://www.metabase.com/docs/latest/dashboards/filters" TargetMode="External" Id="R849ee50dad51458b" /><Relationship Type="http://schemas.openxmlformats.org/officeDocument/2006/relationships/hyperlink" Target="https://www.metabase.com/docs/latest/questions/visualizations/drill-through" TargetMode="External" Id="Rfa1afe0df1654c7e" /><Relationship Type="http://schemas.openxmlformats.org/officeDocument/2006/relationships/hyperlink" Target="https://www.metabase.com/docs/latest/permissions/introduction" TargetMode="External" Id="Re3300499aed94c8c" /><Relationship Type="http://schemas.openxmlformats.org/officeDocument/2006/relationships/hyperlink" Target="https://www.metabase.com/docs/latest/permissions/data" TargetMode="External" Id="R319ac6cba7464a5c" /><Relationship Type="http://schemas.openxmlformats.org/officeDocument/2006/relationships/notesSlide" Target="/ppt/notesSlides/notesSlide14.xml" Id="R4a808f5e32c944f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94324DD7-B2A7-C70F-0160-11F227D46A09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26339" y="449662"/>
            <a:ext cx="6730425" cy="2401447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300"/>
              </a:spcAft>
              <a:buNone/>
              <a:defRPr sz="4800" b="0">
                <a:solidFill>
                  <a:srgbClr val="2D60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800" b="0">
                <a:solidFill>
                  <a:srgbClr val="2D607A"/>
                </a:solidFill>
                <a:latin typeface="Arial Unicode MS"/>
                <a:ea typeface="Arial Unicode MS"/>
                <a:cs typeface="Arial Unicode MS"/>
              </a:rPr>
              <a:t>知识类产品与</a:t>
            </a:r>
          </a:p>
          <a:p xmlns:a="http://schemas.openxmlformats.org/drawingml/2006/main">
            <a:pPr marL="0" indent="0">
              <a:spcAft>
                <a:spcPts val="300"/>
              </a:spcAft>
              <a:buNone/>
              <a:defRPr sz="4800" b="0">
                <a:solidFill>
                  <a:srgbClr val="2D60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800" b="0">
                <a:solidFill>
                  <a:srgbClr val="2D607A"/>
                </a:solidFill>
                <a:latin typeface="Arial Unicode MS"/>
                <a:ea typeface="Arial Unicode MS"/>
                <a:cs typeface="Arial Unicode MS"/>
              </a:rPr>
              <a:t>数据看板调研</a:t>
            </a:r>
          </a:p>
        </p:txBody>
      </p:sp>
      <p:sp>
        <p:nvSpPr>
          <p:cNvPr id="5" name="Subtitle 4">
            <a:extLst xmlns:a="http://schemas.openxmlformats.org/drawingml/2006/main">
              <a:ext uri="{FF2B5EF4-FFF2-40B4-BE49-F238E27FC236}">
                <a16:creationId xmlns:a16="http://schemas.microsoft.com/office/drawing/2014/main" id="{43501A55-18E1-9822-7454-1E3D85380DC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42669" y="3564938"/>
            <a:ext cx="3758374" cy="614676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300"/>
              </a:spcAft>
              <a:buNone/>
              <a:defRPr sz="1725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周五讨论稿</a:t>
            </a:r>
          </a:p>
          <a:p xmlns:a="http://schemas.openxmlformats.org/drawingml/2006/main">
            <a:pPr marL="0" indent="0">
              <a:spcAft>
                <a:spcPts val="300"/>
              </a:spcAft>
              <a:buNone/>
              <a:defRPr sz="1725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资料截至</a:t>
            </a:r>
            <a:r>
              <a:rPr sz="1725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 2026 </a:t>
            </a:r>
            <a:r>
              <a:rPr sz="1725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年</a:t>
            </a:r>
            <a:r>
              <a:rPr sz="1725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 9 </a:t>
            </a:r>
            <a:r>
              <a:rPr sz="1725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月</a:t>
            </a:r>
            <a:r>
              <a:rPr sz="1725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 9 </a:t>
            </a:r>
            <a:r>
              <a:rPr sz="1725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日</a:t>
            </a:r>
          </a:p>
        </p:txBody>
      </p:sp>
      <p:pic>
        <p:nvPicPr>
          <p:cNvPr id="9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50e03effe1413c"/>
          <a:srcRect xmlns:a="http://schemas.openxmlformats.org/drawingml/2006/main" l="0" t="25645" r="0" b="6146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4763386"/>
            <a:ext cx="12190542" cy="209461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249616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69FA6D2-2D50-9DC8-E5DD-C4C1EAE88DC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715750" y="6334125"/>
            <a:ext cx="2667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222222"/>
                </a:solidFill>
                <a:latin typeface="Inter"/>
                <a:ea typeface="Inter"/>
                <a:cs typeface="Inter"/>
              </a:defRPr>
            </a:pPr>
            <a:fld id="{E2598689-54C9-18A7-3A19-ED76AA08988F}" type="slidenum">
              <a:rPr sz="1050">
                <a:solidFill>
                  <a:srgbClr val="222222"/>
                </a:solidFill>
                <a:latin typeface="Inter"/>
                <a:ea typeface="Inter"/>
                <a:cs typeface="Inter"/>
              </a:rPr>
              <a:t>2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E7B2D062-27A4-4C85-912F-42FC88B4DB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9448800" cy="36691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300"/>
              </a:spcAft>
              <a:buNone/>
              <a:defRPr sz="4125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125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知识产品补看权限</a:t>
            </a:r>
          </a:p>
          <a:p xmlns:a="http://schemas.openxmlformats.org/drawingml/2006/main">
            <a:pPr marL="0" indent="0">
              <a:spcAft>
                <a:spcPts val="300"/>
              </a:spcAft>
              <a:buNone/>
              <a:defRPr sz="4125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125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数据看板比较使用路径</a:t>
            </a:r>
          </a:p>
        </p:txBody>
      </p:sp>
      <p:sp>
        <p:nvSpPr>
          <p:cNvPr id="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45D116A3-5F26-E766-2FA6-F7F59839F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826000"/>
            <a:ext cx="3568700" cy="116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300"/>
              </a:spcAft>
              <a:buNone/>
              <a:defRPr sz="180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知识类产品</a:t>
            </a:r>
          </a:p>
          <a:p xmlns:a="http://schemas.openxmlformats.org/drawingml/2006/main">
            <a:pPr marL="0" indent="0">
              <a:spcAft>
                <a:spcPts val="300"/>
              </a:spcAft>
              <a:buNone/>
              <a:defRPr sz="180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已有</a:t>
            </a:r>
            <a:r>
              <a:rPr sz="180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 6 </a:t>
            </a:r>
            <a:r>
              <a:rPr sz="180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款产品资料整理</a:t>
            </a:r>
          </a:p>
          <a:p xmlns:a="http://schemas.openxmlformats.org/drawingml/2006/main">
            <a:pPr marL="0" indent="0">
              <a:spcAft>
                <a:spcPts val="300"/>
              </a:spcAft>
              <a:buNone/>
              <a:defRPr sz="180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本轮补充权限机制</a:t>
            </a:r>
          </a:p>
        </p:txBody>
      </p:sp>
      <p:sp>
        <p:nvSpPr>
          <p:cNvPr id="7" name="Text Placeholder 16">
            <a:extLst xmlns:a="http://schemas.openxmlformats.org/drawingml/2006/main">
              <a:ext uri="{FF2B5EF4-FFF2-40B4-BE49-F238E27FC236}">
                <a16:creationId xmlns:a16="http://schemas.microsoft.com/office/drawing/2014/main" id="{D7F79475-D2E6-1673-5BE0-6CAB7E3D8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826000"/>
            <a:ext cx="3568700" cy="116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300"/>
              </a:spcAft>
              <a:buNone/>
              <a:defRPr sz="180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数据看板</a:t>
            </a:r>
          </a:p>
          <a:p xmlns:a="http://schemas.openxmlformats.org/drawingml/2006/main">
            <a:pPr marL="0" indent="0">
              <a:spcAft>
                <a:spcPts val="300"/>
              </a:spcAft>
              <a:buNone/>
              <a:defRPr sz="180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初看</a:t>
            </a:r>
            <a:r>
              <a:rPr sz="180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 Power BI</a:t>
            </a:r>
            <a:r>
              <a:rPr sz="180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、</a:t>
            </a:r>
            <a:r>
              <a:rPr sz="180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Metabase</a:t>
            </a:r>
          </a:p>
          <a:p xmlns:a="http://schemas.openxmlformats.org/drawingml/2006/main">
            <a:pPr marL="0" indent="0">
              <a:spcAft>
                <a:spcPts val="300"/>
              </a:spcAft>
              <a:buNone/>
              <a:defRPr sz="180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依据官方资料，尚未实测</a:t>
            </a:r>
          </a:p>
        </p:txBody>
      </p:sp>
      <p:sp>
        <p:nvSpPr>
          <p:cNvPr id="8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E99A300F-A62D-2D4C-A8CC-7A2B40C7F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356100"/>
            <a:ext cx="257187" cy="257089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chemeClr val="accent5">
              <a:lumMod val="5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9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9715BEEB-6A24-7E57-79F9-6DC76158D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4158" y="4356100"/>
            <a:ext cx="257187" cy="257089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chemeClr val="accent5">
              <a:lumMod val="5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1C1C27E6-B24A-134D-A33B-2CE33CAE571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</p:spTree>
    <p:extLst>
      <p:ext uri="{BB962C8B-B14F-4D97-AF65-F5344CB8AC3E}">
        <p14:creationId xmlns:p14="http://schemas.microsoft.com/office/powerpoint/2010/main" val="47352099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27489CDA-073D-5D98-B832-86AD74222B7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715750" y="6334125"/>
            <a:ext cx="2667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222222"/>
                </a:solidFill>
                <a:latin typeface="Inter"/>
                <a:ea typeface="Inter"/>
                <a:cs typeface="Inter"/>
              </a:defRPr>
            </a:pPr>
            <a:fld id="{202359C0-8A7A-196E-DD58-8E6569619F09}" type="slidenum">
              <a:rPr sz="1050">
                <a:solidFill>
                  <a:srgbClr val="222222"/>
                </a:solidFill>
                <a:latin typeface="Inter"/>
                <a:ea typeface="Inter"/>
                <a:cs typeface="Inter"/>
              </a:rPr>
              <a:t>3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08EBC4B8-BBC1-7C2A-F77D-BEC6394B0F9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9"/>
            <a:ext cx="7835900" cy="58158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300"/>
              </a:spcAft>
              <a:buNone/>
              <a:defRPr sz="285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知识类产品：已有调研发现</a:t>
            </a:r>
          </a:p>
        </p:txBody>
      </p:sp>
      <p:sp>
        <p:nvSpPr>
          <p:cNvPr id="1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D81689CF-E5CF-3072-801D-DC2D321D4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1057501"/>
            <a:ext cx="11404599" cy="1012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300"/>
              </a:spcAft>
              <a:buNone/>
              <a:defRPr sz="1725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比较导入后的文档形态、组织方式与维护成本。下表的价值与代价为分析判断。</a:t>
            </a:r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B8357537-167D-0462-A21D-DD8E87444BE4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graphicFrame>
        <p:nvGraphicFramePr>
          <p:cNvPr id="540" name=""/>
          <p:cNvGraphicFramePr/>
          <p:nvPr/>
        </p:nvGraphicFramePr>
        <p:xfrm>
          <a:off xmlns:a="http://schemas.openxmlformats.org/drawingml/2006/main" x="400050" y="2286000"/>
          <a:ext xmlns:a="http://schemas.openxmlformats.org/drawingml/2006/main" cx="11391900" cy="36195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381125"/>
                <a:gridCol w="3286125"/>
                <a:gridCol w="3143250"/>
                <a:gridCol w="3581400"/>
              </a:tblGrid>
              <a:tr h="45720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7DB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产品</a:t>
                      </a:r>
                    </a:p>
                  </a:txBody>
                  <a:tcPr marL="66675" marR="9525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7DB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已观察的做法</a:t>
                      </a:r>
                    </a:p>
                  </a:txBody>
                  <a:tcPr marL="66675" marR="9525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7DB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参考价值【分析】</a:t>
                      </a:r>
                    </a:p>
                  </a:txBody>
                  <a:tcPr marL="66675" marR="9525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7DB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使用代价或边界</a:t>
                      </a:r>
                    </a:p>
                  </a:txBody>
                  <a:tcPr marL="66675" marR="95250" marT="85725" marB="76200" anchor="ctr">
                    <a:solidFill>
                      <a:srgbClr val="FFFFFF"/>
                    </a:solidFill>
                  </a:tcPr>
                </a:tc>
              </a:tr>
              <a:tr h="527050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Notion</a:t>
                      </a:r>
                    </a:p>
                  </a:txBody>
                  <a:tcPr marL="66675" marR="9525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页面层级与块编辑</a:t>
                      </a:r>
                    </a:p>
                  </a:txBody>
                  <a:tcPr marL="66675" marR="9525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创建和持续修改较集中</a:t>
                      </a:r>
                    </a:p>
                  </a:txBody>
                  <a:tcPr marL="66675" marR="9525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导入转为页面，复杂结构需核对</a:t>
                      </a:r>
                    </a:p>
                  </a:txBody>
                  <a:tcPr marL="66675" marR="95250" marT="85725" marB="76200" anchor="ctr">
                    <a:solidFill>
                      <a:srgbClr val="FFFFFF"/>
                    </a:solidFill>
                  </a:tcPr>
                </a:tc>
              </a:tr>
              <a:tr h="527050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飞书</a:t>
                      </a:r>
                    </a:p>
                  </a:txBody>
                  <a:tcPr marL="66675" marR="9525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页面树、子页面列表</a:t>
                      </a:r>
                    </a:p>
                  </a:txBody>
                  <a:tcPr marL="66675" marR="9525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适合围绕团队资料整理</a:t>
                      </a:r>
                    </a:p>
                  </a:txBody>
                  <a:tcPr marL="66675" marR="9525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上传附件与导入云文档需区分</a:t>
                      </a:r>
                    </a:p>
                  </a:txBody>
                  <a:tcPr marL="66675" marR="95250" marT="85725" marB="76200" anchor="ctr">
                    <a:solidFill>
                      <a:srgbClr val="FFFFFF"/>
                    </a:solidFill>
                  </a:tcPr>
                </a:tc>
              </a:tr>
              <a:tr h="527050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语雀</a:t>
                      </a:r>
                    </a:p>
                  </a:txBody>
                  <a:tcPr marL="66675" marR="9525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知识库与文档目录</a:t>
                      </a:r>
                    </a:p>
                  </a:txBody>
                  <a:tcPr marL="66675" marR="9525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归属清楚，适合手册阅读</a:t>
                      </a:r>
                    </a:p>
                  </a:txBody>
                  <a:tcPr marL="66675" marR="9525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默认归属为个人反馈，企业规则待验</a:t>
                      </a:r>
                    </a:p>
                  </a:txBody>
                  <a:tcPr marL="66675" marR="95250" marT="85725" marB="76200" anchor="ctr">
                    <a:solidFill>
                      <a:srgbClr val="FFFFFF"/>
                    </a:solidFill>
                  </a:tcPr>
                </a:tc>
              </a:tr>
              <a:tr h="527050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Obsidian</a:t>
                      </a:r>
                    </a:p>
                  </a:txBody>
                  <a:tcPr marL="66675" marR="9525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本地 MD 与文件夹</a:t>
                      </a:r>
                    </a:p>
                  </a:txBody>
                  <a:tcPr marL="66675" marR="9525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文件形态直接、便于携带</a:t>
                      </a:r>
                    </a:p>
                  </a:txBody>
                  <a:tcPr marL="66675" marR="9525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共享 Vault 不支持细粒度权限</a:t>
                      </a:r>
                    </a:p>
                  </a:txBody>
                  <a:tcPr marL="66675" marR="95250" marT="85725" marB="76200" anchor="ctr">
                    <a:solidFill>
                      <a:srgbClr val="FFFFFF"/>
                    </a:solidFill>
                  </a:tcPr>
                </a:tc>
              </a:tr>
              <a:tr h="527050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GitBook</a:t>
                      </a:r>
                    </a:p>
                  </a:txBody>
                  <a:tcPr marL="66675" marR="9525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目录与变更历史</a:t>
                      </a:r>
                    </a:p>
                  </a:txBody>
                  <a:tcPr marL="66675" marR="9525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适合连续阅读和内容维护</a:t>
                      </a:r>
                    </a:p>
                  </a:txBody>
                  <a:tcPr marL="66675" marR="9525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Git 同步、发布流程有学习成本</a:t>
                      </a:r>
                    </a:p>
                  </a:txBody>
                  <a:tcPr marL="66675" marR="95250" marT="85725" marB="76200" anchor="ctr">
                    <a:solidFill>
                      <a:srgbClr val="FFFFFF"/>
                    </a:solidFill>
                  </a:tcPr>
                </a:tc>
              </a:tr>
              <a:tr h="527050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有道云笔记</a:t>
                      </a:r>
                    </a:p>
                  </a:txBody>
                  <a:tcPr marL="66675" marR="9525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MD 编辑与文件夹</a:t>
                      </a:r>
                    </a:p>
                  </a:txBody>
                  <a:tcPr marL="66675" marR="9525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轻量记录和范围查找</a:t>
                      </a:r>
                    </a:p>
                  </a:txBody>
                  <a:tcPr marL="66675" marR="9525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个人笔记能力不能证明企业权限</a:t>
                      </a:r>
                    </a:p>
                  </a:txBody>
                  <a:tcPr marL="66675" marR="95250" marT="85725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35" name="evidence-caption">
            <a:extLst xmlns:a="http://schemas.openxmlformats.org/drawingml/2006/main">
              <a:ext uri="{FF2B5EF4-FFF2-40B4-BE49-F238E27FC236}">
                <a16:creationId xmlns:a16="http://schemas.microsoft.com/office/drawing/2014/main" id="{83B74873-7DA8-49E4-9084-E809F1638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34100"/>
            <a:ext cx="1095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5555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>
                <a:solidFill>
                  <a:srgbClr val="555555"/>
                </a:solidFill>
                <a:latin typeface="Arial Unicode MS"/>
                <a:ea typeface="Arial Unicode MS"/>
                <a:cs typeface="Arial Unicode MS"/>
              </a:rPr>
              <a:t>证据：既有调研及官方说明。未统一账号实测，不提供产品总分排名。</a:t>
            </a:r>
          </a:p>
        </p:txBody>
      </p:sp>
    </p:spTree>
    <p:extLst>
      <p:ext uri="{BB962C8B-B14F-4D97-AF65-F5344CB8AC3E}">
        <p14:creationId xmlns:p14="http://schemas.microsoft.com/office/powerpoint/2010/main" val="32985487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F0D982DB-B102-71B9-EDF4-3738A0B3680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1638300"/>
            <a:ext cx="3568700" cy="435609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300"/>
              </a:spcAft>
              <a:buNone/>
              <a:defRPr sz="180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个人体验样本</a:t>
            </a:r>
          </a:p>
          <a:p xmlns:a="http://schemas.openxmlformats.org/drawingml/2006/main">
            <a:pPr marL="0" indent="0">
              <a:spcAft>
                <a:spcPts val="300"/>
              </a:spcAft>
              <a:buNone/>
              <a:defRPr sz="180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个人反馈：未选知识库时，</a:t>
            </a:r>
          </a:p>
          <a:p xmlns:a="http://schemas.openxmlformats.org/drawingml/2006/main">
            <a:pPr marL="0" indent="0">
              <a:spcAft>
                <a:spcPts val="300"/>
              </a:spcAft>
              <a:buNone/>
              <a:defRPr sz="180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文档进入默认知识库。</a:t>
            </a:r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</a:p>
          <a:p xmlns:a="http://schemas.openxmlformats.org/drawingml/2006/main">
            <a:pPr marL="0" indent="0">
              <a:spcAft>
                <a:spcPts val="300"/>
              </a:spcAft>
              <a:buNone/>
              <a:defRPr sz="180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截图可见默认库、</a:t>
            </a:r>
          </a:p>
          <a:p xmlns:a="http://schemas.openxmlformats.org/drawingml/2006/main">
            <a:pPr marL="0" indent="0">
              <a:spcAft>
                <a:spcPts val="300"/>
              </a:spcAft>
              <a:buNone/>
              <a:defRPr sz="180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自建主题库和常用入口。</a:t>
            </a:r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</a:p>
          <a:p xmlns:a="http://schemas.openxmlformats.org/drawingml/2006/main">
            <a:pPr marL="0" indent="0">
              <a:spcAft>
                <a:spcPts val="300"/>
              </a:spcAft>
              <a:buNone/>
              <a:defRPr sz="180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【分析】先记录后整理</a:t>
            </a:r>
          </a:p>
          <a:p xmlns:a="http://schemas.openxmlformats.org/drawingml/2006/main">
            <a:pPr marL="0" indent="0">
              <a:spcAft>
                <a:spcPts val="300"/>
              </a:spcAft>
              <a:buNone/>
              <a:defRPr sz="180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值得验证。企业默认归属</a:t>
            </a:r>
          </a:p>
          <a:p xmlns:a="http://schemas.openxmlformats.org/drawingml/2006/main">
            <a:pPr marL="0" indent="0">
              <a:spcAft>
                <a:spcPts val="300"/>
              </a:spcAft>
              <a:buNone/>
              <a:defRPr sz="180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和可见范围仍需确认。</a:t>
            </a:r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3D911AFA-A941-75BF-FE8A-5289E197747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715750" y="6334125"/>
            <a:ext cx="2667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222222"/>
                </a:solidFill>
                <a:latin typeface="Inter"/>
                <a:ea typeface="Inter"/>
                <a:cs typeface="Inter"/>
              </a:defRPr>
            </a:pPr>
            <a:fld id="{EFD6AB9A-5F9E-5F59-51AB-3C8734130965}" type="slidenum">
              <a:rPr sz="1050">
                <a:solidFill>
                  <a:srgbClr val="222222"/>
                </a:solidFill>
                <a:latin typeface="Inter"/>
                <a:ea typeface="Inter"/>
                <a:cs typeface="Inter"/>
              </a:rPr>
              <a:t>4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4C055269-43CF-5537-A1B0-DC932A8FB18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3568700" cy="9005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300"/>
              </a:spcAft>
              <a:buNone/>
              <a:defRPr sz="2775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75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语雀：知识库</a:t>
            </a:r>
          </a:p>
          <a:p xmlns:a="http://schemas.openxmlformats.org/drawingml/2006/main">
            <a:pPr marL="0" indent="0">
              <a:spcAft>
                <a:spcPts val="300"/>
              </a:spcAft>
              <a:buNone/>
              <a:defRPr sz="2775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75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与文档归属</a:t>
            </a:r>
          </a:p>
        </p:txBody>
      </p:sp>
      <p:sp>
        <p:nvSpPr>
          <p:cNvPr id="2" name="object 3">
            <a:extLst xmlns:a="http://schemas.openxmlformats.org/drawingml/2006/main">
              <a:ext uri="{FF2B5EF4-FFF2-40B4-BE49-F238E27FC236}">
                <a16:creationId xmlns:a16="http://schemas.microsoft.com/office/drawing/2014/main" id="{5FDA4427-F2DF-5DB2-AE39-D904C1046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87896"/>
            <a:ext cx="7499261" cy="5606415"/>
          </a:xfrm>
          <a:custGeom xmlns:a="http://schemas.openxmlformats.org/drawingml/2006/main">
            <a:rect l="l" t="t" r="r" b="b"/>
            <a:pathLst>
              <a:path w="7386319" h="7475220">
                <a:moveTo>
                  <a:pt x="7385710" y="0"/>
                </a:moveTo>
                <a:lnTo>
                  <a:pt x="0" y="0"/>
                </a:lnTo>
                <a:lnTo>
                  <a:pt x="0" y="7474610"/>
                </a:lnTo>
                <a:lnTo>
                  <a:pt x="7385710" y="7474610"/>
                </a:lnTo>
                <a:lnTo>
                  <a:pt x="7385710" y="0"/>
                </a:lnTo>
                <a:close/>
              </a:path>
            </a:pathLst>
          </a:custGeom>
          <a:solidFill xmlns:a="http://schemas.openxmlformats.org/drawingml/2006/main">
            <a:srgbClr val="EDEDED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 sz="1350"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74612A72-3676-A3F7-8578-975B86130C86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pic>
        <p:nvPicPr>
          <p:cNvPr id="5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99eb79c9e74465"/>
          <a:stretch xmlns:a="http://schemas.openxmlformats.org/drawingml/2006/main"/>
        </p:blipFill>
        <p:spPr>
          <a:xfrm xmlns:a="http://schemas.openxmlformats.org/drawingml/2006/main">
            <a:off x="4305300" y="922177"/>
            <a:ext cx="7503480" cy="4550535"/>
          </a:xfrm>
          <a:prstGeom xmlns:a="http://schemas.openxmlformats.org/drawingml/2006/main" prst="roundRect">
            <a:avLst/>
          </a:prstGeom>
        </p:spPr>
      </p:pic>
      <p:sp>
        <p:nvSpPr>
          <p:cNvPr id="536" name="evidence-caption">
            <a:extLst xmlns:a="http://schemas.openxmlformats.org/drawingml/2006/main">
              <a:ext uri="{FF2B5EF4-FFF2-40B4-BE49-F238E27FC236}">
                <a16:creationId xmlns:a16="http://schemas.microsoft.com/office/drawing/2014/main" id="{AF2ECC72-E6D5-48AA-9C5D-2A87F6078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34100"/>
            <a:ext cx="1095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5555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>
                <a:solidFill>
                  <a:srgbClr val="555555"/>
                </a:solidFill>
                <a:latin typeface="Arial Unicode MS"/>
                <a:ea typeface="Arial Unicode MS"/>
                <a:cs typeface="Arial Unicode MS"/>
              </a:rPr>
              <a:t>个人截图与使用反馈。不能据此推断企业账号的默认权限或其他用户偏好。</a:t>
            </a:r>
          </a:p>
        </p:txBody>
      </p:sp>
    </p:spTree>
    <p:extLst>
      <p:ext uri="{BB962C8B-B14F-4D97-AF65-F5344CB8AC3E}">
        <p14:creationId xmlns:p14="http://schemas.microsoft.com/office/powerpoint/2010/main" val="365731922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27489CDA-073D-5D98-B832-86AD74222B7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715750" y="6334125"/>
            <a:ext cx="2667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222222"/>
                </a:solidFill>
                <a:latin typeface="Inter"/>
                <a:ea typeface="Inter"/>
                <a:cs typeface="Inter"/>
              </a:defRPr>
            </a:pPr>
            <a:fld id="{EE5B3003-2C54-13C6-9832-7637201064DE}" type="slidenum">
              <a:rPr sz="1050">
                <a:solidFill>
                  <a:srgbClr val="222222"/>
                </a:solidFill>
                <a:latin typeface="Inter"/>
                <a:ea typeface="Inter"/>
                <a:cs typeface="Inter"/>
              </a:rPr>
              <a:t>5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08EBC4B8-BBC1-7C2A-F77D-BEC6394B0F9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9"/>
            <a:ext cx="7835900" cy="58158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300"/>
              </a:spcAft>
              <a:buNone/>
              <a:defRPr sz="285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知识权限：授权范围与操作能力</a:t>
            </a:r>
          </a:p>
        </p:txBody>
      </p:sp>
      <p:sp>
        <p:nvSpPr>
          <p:cNvPr id="1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D81689CF-E5CF-3072-801D-DC2D321D4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1057501"/>
            <a:ext cx="11404599" cy="1012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300"/>
              </a:spcAft>
              <a:buNone/>
              <a:defRPr sz="1725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权限补查样本。官方机制与适用判断分列，普通员工实际访问效果仍需验证。</a:t>
            </a:r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B8357537-167D-0462-A21D-DD8E87444BE4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graphicFrame>
        <p:nvGraphicFramePr>
          <p:cNvPr id="539" name=""/>
          <p:cNvGraphicFramePr/>
          <p:nvPr/>
        </p:nvGraphicFramePr>
        <p:xfrm>
          <a:off xmlns:a="http://schemas.openxmlformats.org/drawingml/2006/main" x="400050" y="2286000"/>
          <a:ext xmlns:a="http://schemas.openxmlformats.org/drawingml/2006/main" cx="11391900" cy="36195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428750"/>
                <a:gridCol w="3524250"/>
                <a:gridCol w="3429000"/>
                <a:gridCol w="3009900"/>
              </a:tblGrid>
              <a:tr h="4572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DB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产品</a:t>
                      </a:r>
                    </a:p>
                  </a:txBody>
                  <a:tcPr marL="66675" marR="9525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DB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官方说明中的机制</a:t>
                      </a:r>
                    </a:p>
                  </a:txBody>
                  <a:tcPr marL="66675" marR="9525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DB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价值与代价【分析】</a:t>
                      </a:r>
                    </a:p>
                  </a:txBody>
                  <a:tcPr marL="66675" marR="9525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DB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下一步验证</a:t>
                      </a:r>
                    </a:p>
                  </a:txBody>
                  <a:tcPr marL="66675" marR="95250" marT="85725" marB="76200" anchor="ctr">
                    <a:solidFill>
                      <a:srgbClr val="FFFFFF"/>
                    </a:solidFill>
                  </a:tcPr>
                </a:tc>
              </a:tr>
              <a:tr h="105410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飞书</a:t>
                      </a:r>
                    </a:p>
                  </a:txBody>
                  <a:tcPr marL="66675" marR="9525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按部门、用户组或成员</a:t>
                      </a:r>
                    </a:p>
                    <a:p>
                      <a:r>
                        <a:rPr sz="1725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配置文档默认权限</a:t>
                      </a:r>
                    </a:p>
                  </a:txBody>
                  <a:tcPr marL="66675" marR="9525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可统一默认规则</a:t>
                      </a:r>
                    </a:p>
                    <a:p>
                      <a:r>
                        <a:rPr sz="1725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需理解企业与文档设置的关系</a:t>
                      </a:r>
                    </a:p>
                  </a:txBody>
                  <a:tcPr marL="66675" marR="9525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新建默认范围</a:t>
                      </a:r>
                    </a:p>
                    <a:p>
                      <a:r>
                        <a:rPr sz="1725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移出部门后的访问</a:t>
                      </a:r>
                    </a:p>
                  </a:txBody>
                  <a:tcPr marL="66675" marR="95250" marT="85725" marB="76200" anchor="ctr">
                    <a:solidFill>
                      <a:srgbClr val="FFFFFF"/>
                    </a:solidFill>
                  </a:tcPr>
                </a:tc>
              </a:tr>
              <a:tr h="105410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Notion</a:t>
                      </a:r>
                    </a:p>
                  </a:txBody>
                  <a:tcPr marL="66675" marR="9525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向个人或组分享页面</a:t>
                      </a:r>
                    </a:p>
                    <a:p>
                      <a:r>
                        <a:rPr sz="1725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区分编辑与完整访问</a:t>
                      </a:r>
                    </a:p>
                  </a:txBody>
                  <a:tcPr marL="66675" marR="9525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单篇协作灵活</a:t>
                      </a:r>
                    </a:p>
                    <a:p>
                      <a:r>
                        <a:rPr sz="1725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需检查继承及其他授权来源</a:t>
                      </a:r>
                    </a:p>
                  </a:txBody>
                  <a:tcPr marL="66675" marR="9525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单篇例外授权</a:t>
                      </a:r>
                    </a:p>
                    <a:p>
                      <a:r>
                        <a:rPr sz="1725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取消分享与搜索表现</a:t>
                      </a:r>
                    </a:p>
                  </a:txBody>
                  <a:tcPr marL="66675" marR="95250" marT="85725" marB="76200" anchor="ctr">
                    <a:solidFill>
                      <a:srgbClr val="FFFFFF"/>
                    </a:solidFill>
                  </a:tcPr>
                </a:tc>
              </a:tr>
              <a:tr h="105410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Obsidian</a:t>
                      </a:r>
                    </a:p>
                  </a:txBody>
                  <a:tcPr marL="66675" marR="9525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共享 Vault 的协作者</a:t>
                      </a:r>
                    </a:p>
                    <a:p>
                      <a:r>
                        <a:rPr sz="1725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基本同权，邀请权除外</a:t>
                      </a:r>
                    </a:p>
                  </a:txBody>
                  <a:tcPr marL="66675" marR="9525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共享规则较少</a:t>
                      </a:r>
                    </a:p>
                    <a:p>
                      <a:r>
                        <a:rPr sz="1725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难覆盖同库内人员分级阅读</a:t>
                      </a:r>
                    </a:p>
                  </a:txBody>
                  <a:tcPr marL="66675" marR="9525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作为 MD 参考</a:t>
                      </a:r>
                    </a:p>
                    <a:p>
                      <a:r>
                        <a:rPr sz="1725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不作细粒度权限样本</a:t>
                      </a:r>
                    </a:p>
                  </a:txBody>
                  <a:tcPr marL="66675" marR="95250" marT="85725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985487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DBC152D0-CDF3-969A-A32E-0A1C97DA936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715750" y="6334125"/>
            <a:ext cx="2667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222222"/>
                </a:solidFill>
                <a:latin typeface="Inter"/>
                <a:ea typeface="Inter"/>
                <a:cs typeface="Inter"/>
              </a:defRPr>
            </a:pPr>
            <a:fld id="{8C630A04-5A25-9E0C-9436-126091DB86B3}" type="slidenum">
              <a:rPr sz="1050">
                <a:solidFill>
                  <a:srgbClr val="222222"/>
                </a:solidFill>
                <a:latin typeface="Inter"/>
                <a:ea typeface="Inter"/>
                <a:cs typeface="Inter"/>
              </a:rPr>
              <a:t>6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9CA28587-E9DB-FD6E-67D5-B6C4D20349B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78359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300"/>
              </a:spcAft>
              <a:buNone/>
              <a:defRPr sz="285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知识权限的下一轮验证</a:t>
            </a:r>
          </a:p>
        </p:txBody>
      </p:sp>
      <p:sp>
        <p:nvSpPr>
          <p:cNvPr id="12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2575F3F3-5548-310C-CA8A-2BB5F4F14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374901"/>
            <a:ext cx="4826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300"/>
              </a:spcAft>
              <a:buNone/>
              <a:defRPr sz="1725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新建或导入后谁能看？</a:t>
            </a:r>
          </a:p>
          <a:p xmlns:a="http://schemas.openxmlformats.org/drawingml/2006/main">
            <a:pPr marL="0" indent="0">
              <a:spcAft>
                <a:spcPts val="300"/>
              </a:spcAft>
              <a:buNone/>
              <a:defRPr sz="1725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用户是否能理解当前范围？</a:t>
            </a:r>
          </a:p>
        </p:txBody>
      </p:sp>
      <p:sp>
        <p:nvSpPr>
          <p:cNvPr id="15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C50C3B7B-28A7-FE2B-805B-9E84EA8C0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00" y="2374901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300"/>
              </a:spcAft>
              <a:buNone/>
              <a:defRPr sz="1800" b="0">
                <a:solidFill>
                  <a:srgbClr val="007DB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007DBA"/>
                </a:solidFill>
                <a:latin typeface="Arial Unicode MS"/>
                <a:ea typeface="Arial Unicode MS"/>
                <a:cs typeface="Arial Unicode MS"/>
              </a:rPr>
              <a:t>默认归属</a:t>
            </a:r>
          </a:p>
        </p:txBody>
      </p:sp>
      <p:sp>
        <p:nvSpPr>
          <p:cNvPr id="16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A989BD75-DE8D-B290-9745-1D9E8821A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365501"/>
            <a:ext cx="4826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300"/>
              </a:spcAft>
              <a:buNone/>
              <a:defRPr sz="1725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部门共享中增加一份受限资料，</a:t>
            </a:r>
          </a:p>
          <a:p xmlns:a="http://schemas.openxmlformats.org/drawingml/2006/main">
            <a:pPr marL="0" indent="0">
              <a:spcAft>
                <a:spcPts val="300"/>
              </a:spcAft>
              <a:buNone/>
              <a:defRPr sz="1725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能否单独设置并说明权限来源？</a:t>
            </a:r>
          </a:p>
        </p:txBody>
      </p:sp>
      <p:sp>
        <p:nvSpPr>
          <p:cNvPr id="17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E53F591C-9E43-179D-176D-24989B8B7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00" y="3365501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300"/>
              </a:spcAft>
              <a:buNone/>
              <a:defRPr sz="1800" b="0">
                <a:solidFill>
                  <a:srgbClr val="007DB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007DBA"/>
                </a:solidFill>
                <a:latin typeface="Arial Unicode MS"/>
                <a:ea typeface="Arial Unicode MS"/>
                <a:cs typeface="Arial Unicode MS"/>
              </a:rPr>
              <a:t>单篇例外</a:t>
            </a:r>
          </a:p>
        </p:txBody>
      </p:sp>
      <p:sp>
        <p:nvSpPr>
          <p:cNvPr id="18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A7B38CBA-379D-8AEA-4C18-49046133E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356101"/>
            <a:ext cx="4826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300"/>
              </a:spcAft>
              <a:buNone/>
              <a:defRPr sz="1725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取消邀请或移出部门后，</a:t>
            </a:r>
          </a:p>
          <a:p xmlns:a="http://schemas.openxmlformats.org/drawingml/2006/main">
            <a:pPr marL="0" indent="0">
              <a:spcAft>
                <a:spcPts val="300"/>
              </a:spcAft>
              <a:buNone/>
              <a:defRPr sz="1725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原链接、附件和搜索怎样变化？</a:t>
            </a:r>
          </a:p>
        </p:txBody>
      </p:sp>
      <p:sp>
        <p:nvSpPr>
          <p:cNvPr id="19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C558135D-EC8F-1FA0-D966-C8D4FA20E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00" y="4356101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300"/>
              </a:spcAft>
              <a:buNone/>
              <a:defRPr sz="1800" b="0">
                <a:solidFill>
                  <a:srgbClr val="007DB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007DBA"/>
                </a:solidFill>
                <a:latin typeface="Arial Unicode MS"/>
                <a:ea typeface="Arial Unicode MS"/>
                <a:cs typeface="Arial Unicode MS"/>
              </a:rPr>
              <a:t>权限撤销</a:t>
            </a:r>
          </a:p>
        </p:txBody>
      </p:sp>
      <p:sp>
        <p:nvSpPr>
          <p:cNvPr id="2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59682F0D-6358-B00F-89D9-1AC370902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5359401"/>
            <a:ext cx="4826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300"/>
              </a:spcAft>
              <a:buNone/>
              <a:defRPr sz="1725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分别检查标题、摘要与正文。</a:t>
            </a:r>
          </a:p>
          <a:p xmlns:a="http://schemas.openxmlformats.org/drawingml/2006/main">
            <a:pPr marL="0" indent="0">
              <a:spcAft>
                <a:spcPts val="300"/>
              </a:spcAft>
              <a:buNone/>
              <a:defRPr sz="1725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有</a:t>
            </a:r>
            <a:r>
              <a:rPr sz="1725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 AI </a:t>
            </a:r>
            <a:r>
              <a:rPr sz="1725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问答时，再单独核对引用。</a:t>
            </a:r>
          </a:p>
        </p:txBody>
      </p:sp>
      <p:sp>
        <p:nvSpPr>
          <p:cNvPr id="2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858787E0-CB4B-BCAC-702A-ECD3032DF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00" y="5359401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300"/>
              </a:spcAft>
              <a:buNone/>
              <a:defRPr sz="1800" b="0">
                <a:solidFill>
                  <a:srgbClr val="007DB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007DBA"/>
                </a:solidFill>
                <a:latin typeface="Arial Unicode MS"/>
                <a:ea typeface="Arial Unicode MS"/>
                <a:cs typeface="Arial Unicode MS"/>
              </a:rPr>
              <a:t>搜索与问答</a:t>
            </a:r>
          </a:p>
        </p:txBody>
      </p:sp>
      <p:sp>
        <p:nvSpPr>
          <p:cNvPr id="3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982CDA0F-E73C-7EBB-EE08-FECCE69C5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374901"/>
            <a:ext cx="3568700" cy="361949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800"/>
              </a:spcAft>
              <a:buNone/>
              <a:defRPr sz="180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统一任务样本</a:t>
            </a:r>
          </a:p>
          <a:p xmlns:a="http://schemas.openxmlformats.org/drawingml/2006/main">
            <a:pPr marL="0" indent="0">
              <a:spcAft>
                <a:spcPts val="350"/>
              </a:spcAft>
              <a:buNone/>
              <a:defRPr sz="180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【待验证示例】</a:t>
            </a:r>
          </a:p>
          <a:p xmlns:a="http://schemas.openxmlformats.org/drawingml/2006/main">
            <a:pPr marL="0" indent="0">
              <a:spcAft>
                <a:spcPts val="350"/>
              </a:spcAft>
              <a:buNone/>
              <a:defRPr sz="180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全员制度、部门手册、</a:t>
            </a:r>
          </a:p>
          <a:p xmlns:a="http://schemas.openxmlformats.org/drawingml/2006/main">
            <a:pPr marL="0" indent="0">
              <a:spcAft>
                <a:spcPts val="350"/>
              </a:spcAft>
              <a:buNone/>
              <a:defRPr sz="180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指定人员报价说明。</a:t>
            </a:r>
          </a:p>
          <a:p xmlns:a="http://schemas.openxmlformats.org/drawingml/2006/main">
            <a:pPr marL="0" indent="0">
              <a:spcAft>
                <a:spcPts val="350"/>
              </a:spcAft>
              <a:buNone/>
              <a:defRPr sz="180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</a:p>
          <a:p xmlns:a="http://schemas.openxmlformats.org/drawingml/2006/main">
            <a:pPr marL="0" indent="0">
              <a:spcAft>
                <a:spcPts val="350"/>
              </a:spcAft>
              <a:buNone/>
              <a:defRPr sz="180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管理员与普通员工</a:t>
            </a:r>
          </a:p>
          <a:p xmlns:a="http://schemas.openxmlformats.org/drawingml/2006/main">
            <a:pPr marL="0" indent="0">
              <a:spcAft>
                <a:spcPts val="350"/>
              </a:spcAft>
              <a:buNone/>
              <a:defRPr sz="180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分别观察同一操作结果。</a:t>
            </a:r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B4523B68-CB58-F426-D824-531128F4CB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</p:spTree>
    <p:extLst>
      <p:ext uri="{BB962C8B-B14F-4D97-AF65-F5344CB8AC3E}">
        <p14:creationId xmlns:p14="http://schemas.microsoft.com/office/powerpoint/2010/main" val="67611695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40C911A7-2999-5B10-850F-7785C571AE5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5537200" cy="1643185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800"/>
              </a:spcAft>
              <a:buNone/>
              <a:defRPr sz="180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指标理解</a:t>
            </a:r>
          </a:p>
          <a:p xmlns:a="http://schemas.openxmlformats.org/drawingml/2006/main">
            <a:pPr marL="0" indent="0">
              <a:spcAft>
                <a:spcPts val="350"/>
              </a:spcAft>
              <a:buNone/>
              <a:defRPr sz="180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指标定义、时间范围和刷新时间，</a:t>
            </a:r>
          </a:p>
          <a:p xmlns:a="http://schemas.openxmlformats.org/drawingml/2006/main">
            <a:pPr marL="0" indent="0">
              <a:spcAft>
                <a:spcPts val="350"/>
              </a:spcAft>
              <a:buNone/>
              <a:defRPr sz="180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决定一个数字是否能用于判断。</a:t>
            </a:r>
          </a:p>
        </p:txBody>
      </p:sp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6B79DB2A-CC47-00B8-FE1C-26473E47EA9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715750" y="6334125"/>
            <a:ext cx="266700" cy="238125"/>
          </a:xfr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222222"/>
                </a:solidFill>
                <a:latin typeface="Inter"/>
                <a:ea typeface="Inter"/>
                <a:cs typeface="Inter"/>
              </a:defRPr>
            </a:pPr>
            <a:fld id="{D3D7D1C8-AE23-AA48-DF65-C742588DBE47}" type="slidenum">
              <a:rPr sz="1050">
                <a:solidFill>
                  <a:srgbClr val="222222"/>
                </a:solidFill>
                <a:latin typeface="Inter"/>
                <a:ea typeface="Inter"/>
                <a:cs typeface="Inter"/>
              </a:rPr>
              <a:t>7</a:t>
            </a:fld>
            <a:endParaRPr/>
          </a:p>
        </p:txBody>
      </p:sp>
      <p:sp>
        <p:nvSpPr>
          <p:cNvPr id="1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9591DE77-626F-6364-307D-6A3CECC3E0AC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6256618" y="2032000"/>
            <a:ext cx="5537200" cy="1643185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800"/>
              </a:spcAft>
              <a:buNone/>
              <a:defRPr sz="180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筛选与追查</a:t>
            </a:r>
          </a:p>
          <a:p xmlns:a="http://schemas.openxmlformats.org/drawingml/2006/main">
            <a:pPr marL="0" indent="0">
              <a:spcAft>
                <a:spcPts val="350"/>
              </a:spcAft>
              <a:buNone/>
              <a:defRPr sz="180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从汇总进入明细，观察筛选条件</a:t>
            </a:r>
          </a:p>
          <a:p xmlns:a="http://schemas.openxmlformats.org/drawingml/2006/main">
            <a:pPr marL="0" indent="0">
              <a:spcAft>
                <a:spcPts val="350"/>
              </a:spcAft>
              <a:buNone/>
              <a:defRPr sz="180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能否保留，入口是否容易找到。</a:t>
            </a:r>
          </a:p>
        </p:txBody>
      </p:sp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89BFFB18-4CB5-6BE2-9B1E-49B4101293F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9"/>
            <a:ext cx="7835900" cy="1040292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300"/>
              </a:spcAft>
              <a:buNone/>
              <a:defRPr sz="285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数据看板的调研范围</a:t>
            </a:r>
          </a:p>
        </p:txBody>
      </p:sp>
      <p:sp>
        <p:nvSpPr>
          <p:cNvPr id="4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5FBFFE27-6CE4-D49E-8371-7F40817D2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4016975"/>
            <a:ext cx="5537200" cy="16431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800"/>
              </a:spcAft>
              <a:buNone/>
              <a:defRPr sz="180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人员可见范围</a:t>
            </a:r>
          </a:p>
          <a:p xmlns:a="http://schemas.openxmlformats.org/drawingml/2006/main">
            <a:pPr marL="0" indent="0">
              <a:spcAft>
                <a:spcPts val="350"/>
              </a:spcAft>
              <a:buNone/>
              <a:defRPr sz="180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谁能打开看板，打开后可以查看</a:t>
            </a:r>
          </a:p>
          <a:p xmlns:a="http://schemas.openxmlformats.org/drawingml/2006/main">
            <a:pPr marL="0" indent="0">
              <a:spcAft>
                <a:spcPts val="350"/>
              </a:spcAft>
              <a:buNone/>
              <a:defRPr sz="180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哪些部门的数据与记录。</a:t>
            </a:r>
          </a:p>
        </p:txBody>
      </p:sp>
      <p:sp>
        <p:nvSpPr>
          <p:cNvPr id="5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D6F50C40-7DBA-55A3-751E-00E97654E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618" y="4016975"/>
            <a:ext cx="5537200" cy="16431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800"/>
              </a:spcAft>
              <a:buNone/>
              <a:defRPr sz="180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制作与维护</a:t>
            </a:r>
          </a:p>
          <a:p xmlns:a="http://schemas.openxmlformats.org/drawingml/2006/main">
            <a:pPr marL="0" indent="0">
              <a:spcAft>
                <a:spcPts val="350"/>
              </a:spcAft>
              <a:buNone/>
              <a:defRPr sz="180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谁接入数据、定义指标、更新看板，</a:t>
            </a:r>
          </a:p>
          <a:p xmlns:a="http://schemas.openxmlformats.org/drawingml/2006/main">
            <a:pPr marL="0" indent="0">
              <a:spcAft>
                <a:spcPts val="350"/>
              </a:spcAft>
              <a:buNone/>
              <a:defRPr sz="180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使用者需要理解多少配置。</a:t>
            </a:r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E79D819C-33DB-D779-0CC9-74786C7AA64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</p:spTree>
    <p:extLst>
      <p:ext uri="{BB962C8B-B14F-4D97-AF65-F5344CB8AC3E}">
        <p14:creationId xmlns:p14="http://schemas.microsoft.com/office/powerpoint/2010/main" val="36014548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F0D982DB-B102-71B9-EDF4-3738A0B3680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1638300"/>
            <a:ext cx="3568700" cy="435609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300"/>
              </a:spcAft>
              <a:buNone/>
              <a:defRPr sz="180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官方界面示例</a:t>
            </a:r>
          </a:p>
          <a:p xmlns:a="http://schemas.openxmlformats.org/drawingml/2006/main">
            <a:pPr marL="0" indent="0">
              <a:spcAft>
                <a:spcPts val="300"/>
              </a:spcAft>
              <a:buNone/>
              <a:defRPr sz="180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相关查询放到同一看板，</a:t>
            </a:r>
          </a:p>
          <a:p xmlns:a="http://schemas.openxmlformats.org/drawingml/2006/main">
            <a:pPr marL="0" indent="0">
              <a:spcAft>
                <a:spcPts val="300"/>
              </a:spcAft>
              <a:buNone/>
              <a:defRPr sz="180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通过筛选和点击继续查看。</a:t>
            </a:r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</a:p>
          <a:p xmlns:a="http://schemas.openxmlformats.org/drawingml/2006/main">
            <a:pPr marL="0" indent="0">
              <a:spcAft>
                <a:spcPts val="300"/>
              </a:spcAft>
              <a:buNone/>
              <a:defRPr sz="180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【分析】查看与追查相邻，</a:t>
            </a:r>
          </a:p>
          <a:p xmlns:a="http://schemas.openxmlformats.org/drawingml/2006/main">
            <a:pPr marL="0" indent="0">
              <a:spcAft>
                <a:spcPts val="300"/>
              </a:spcAft>
              <a:buNone/>
              <a:defRPr sz="180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可减少切换入口的负担。</a:t>
            </a:r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</a:p>
          <a:p xmlns:a="http://schemas.openxmlformats.org/drawingml/2006/main">
            <a:pPr marL="0" indent="0">
              <a:spcAft>
                <a:spcPts val="300"/>
              </a:spcAft>
              <a:buNone/>
              <a:defRPr sz="180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限制：钻取需要查询权限。</a:t>
            </a:r>
          </a:p>
          <a:p xmlns:a="http://schemas.openxmlformats.org/drawingml/2006/main">
            <a:pPr marL="0" indent="0">
              <a:spcAft>
                <a:spcPts val="300"/>
              </a:spcAft>
              <a:buNone/>
              <a:defRPr sz="180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原生</a:t>
            </a:r>
            <a:r>
              <a:rPr sz="180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 SQL </a:t>
            </a:r>
            <a:r>
              <a:rPr sz="180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的交互范围</a:t>
            </a:r>
          </a:p>
          <a:p xmlns:a="http://schemas.openxmlformats.org/drawingml/2006/main">
            <a:pPr marL="0" indent="0">
              <a:spcAft>
                <a:spcPts val="300"/>
              </a:spcAft>
              <a:buNone/>
              <a:defRPr sz="180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还受查询方式约束。</a:t>
            </a:r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3D911AFA-A941-75BF-FE8A-5289E197747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715750" y="6334125"/>
            <a:ext cx="2667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222222"/>
                </a:solidFill>
                <a:latin typeface="Inter"/>
                <a:ea typeface="Inter"/>
                <a:cs typeface="Inter"/>
              </a:defRPr>
            </a:pPr>
            <a:fld id="{BA58DA2A-B818-18A9-29C1-B697728D5BCE}" type="slidenum">
              <a:rPr sz="1050">
                <a:solidFill>
                  <a:srgbClr val="222222"/>
                </a:solidFill>
                <a:latin typeface="Inter"/>
                <a:ea typeface="Inter"/>
                <a:cs typeface="Inter"/>
              </a:rPr>
              <a:t>8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4C055269-43CF-5537-A1B0-DC932A8FB18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3568700" cy="9005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300"/>
              </a:spcAft>
              <a:buNone/>
              <a:defRPr sz="270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Metabase</a:t>
            </a:r>
            <a:r>
              <a:rPr sz="270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：看板</a:t>
            </a:r>
          </a:p>
          <a:p xmlns:a="http://schemas.openxmlformats.org/drawingml/2006/main">
            <a:pPr marL="0" indent="0">
              <a:spcAft>
                <a:spcPts val="300"/>
              </a:spcAft>
              <a:buNone/>
              <a:defRPr sz="270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中的筛选与追查</a:t>
            </a:r>
          </a:p>
        </p:txBody>
      </p:sp>
      <p:sp>
        <p:nvSpPr>
          <p:cNvPr id="2" name="object 3">
            <a:extLst xmlns:a="http://schemas.openxmlformats.org/drawingml/2006/main">
              <a:ext uri="{FF2B5EF4-FFF2-40B4-BE49-F238E27FC236}">
                <a16:creationId xmlns:a16="http://schemas.microsoft.com/office/drawing/2014/main" id="{5FDA4427-F2DF-5DB2-AE39-D904C1046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87896"/>
            <a:ext cx="7499261" cy="5606415"/>
          </a:xfrm>
          <a:custGeom xmlns:a="http://schemas.openxmlformats.org/drawingml/2006/main">
            <a:rect l="l" t="t" r="r" b="b"/>
            <a:pathLst>
              <a:path w="7386319" h="7475220">
                <a:moveTo>
                  <a:pt x="7385710" y="0"/>
                </a:moveTo>
                <a:lnTo>
                  <a:pt x="0" y="0"/>
                </a:lnTo>
                <a:lnTo>
                  <a:pt x="0" y="7474610"/>
                </a:lnTo>
                <a:lnTo>
                  <a:pt x="7385710" y="7474610"/>
                </a:lnTo>
                <a:lnTo>
                  <a:pt x="7385710" y="0"/>
                </a:lnTo>
                <a:close/>
              </a:path>
            </a:pathLst>
          </a:custGeom>
          <a:solidFill xmlns:a="http://schemas.openxmlformats.org/drawingml/2006/main">
            <a:srgbClr val="EDEDED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 sz="1350"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74612A72-3676-A3F7-8578-975B86130C86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pic>
        <p:nvPicPr>
          <p:cNvPr id="5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5ba47934cf480e"/>
          <a:stretch xmlns:a="http://schemas.openxmlformats.org/drawingml/2006/main"/>
        </p:blipFill>
        <p:spPr>
          <a:xfrm xmlns:a="http://schemas.openxmlformats.org/drawingml/2006/main">
            <a:off x="4765824" y="396409"/>
            <a:ext cx="6582432" cy="5602070"/>
          </a:xfrm>
          <a:prstGeom xmlns:a="http://schemas.openxmlformats.org/drawingml/2006/main" prst="roundRect">
            <a:avLst/>
          </a:prstGeom>
        </p:spPr>
      </p:pic>
      <p:sp>
        <p:nvSpPr>
          <p:cNvPr id="536" name="evidence-caption">
            <a:extLst xmlns:a="http://schemas.openxmlformats.org/drawingml/2006/main">
              <a:ext uri="{FF2B5EF4-FFF2-40B4-BE49-F238E27FC236}">
                <a16:creationId xmlns:a16="http://schemas.microsoft.com/office/drawing/2014/main" id="{A3DC7B70-FA94-485C-8AF5-175A3E544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34100"/>
            <a:ext cx="1095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5555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>
                <a:solidFill>
                  <a:srgbClr val="555555"/>
                </a:solidFill>
                <a:latin typeface="Arial Unicode MS"/>
                <a:ea typeface="Arial Unicode MS"/>
                <a:cs typeface="Arial Unicode MS"/>
              </a:rPr>
              <a:t>官方示例图，仅展示界面与组织方式。图中数据不代表本项目业务，也不是本次实测结果。</a:t>
            </a:r>
          </a:p>
        </p:txBody>
      </p:sp>
    </p:spTree>
    <p:extLst>
      <p:ext uri="{BB962C8B-B14F-4D97-AF65-F5344CB8AC3E}">
        <p14:creationId xmlns:p14="http://schemas.microsoft.com/office/powerpoint/2010/main" val="365731922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27489CDA-073D-5D98-B832-86AD74222B7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715750" y="6334125"/>
            <a:ext cx="2667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222222"/>
                </a:solidFill>
                <a:latin typeface="Inter"/>
                <a:ea typeface="Inter"/>
                <a:cs typeface="Inter"/>
              </a:defRPr>
            </a:pPr>
            <a:fld id="{388657AE-30A1-5A7A-6A7F-315D84436430}" type="slidenum">
              <a:rPr sz="1050">
                <a:solidFill>
                  <a:srgbClr val="222222"/>
                </a:solidFill>
                <a:latin typeface="Inter"/>
                <a:ea typeface="Inter"/>
                <a:cs typeface="Inter"/>
              </a:rPr>
              <a:t>9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08EBC4B8-BBC1-7C2A-F77D-BEC6394B0F9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9"/>
            <a:ext cx="7835900" cy="58158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300"/>
              </a:spcAft>
              <a:buNone/>
              <a:defRPr sz="285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数据看板：两款产品的使用路径</a:t>
            </a:r>
          </a:p>
        </p:txBody>
      </p:sp>
      <p:sp>
        <p:nvSpPr>
          <p:cNvPr id="1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D81689CF-E5CF-3072-801D-DC2D321D4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1057501"/>
            <a:ext cx="11404599" cy="1012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300"/>
              </a:spcAft>
              <a:buNone/>
              <a:defRPr sz="1725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“看板”按业务用途比较，同时保留产品自身的页面与权限边界。</a:t>
            </a:r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B8357537-167D-0462-A21D-DD8E87444BE4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graphicFrame>
        <p:nvGraphicFramePr>
          <p:cNvPr id="539" name=""/>
          <p:cNvGraphicFramePr/>
          <p:nvPr/>
        </p:nvGraphicFramePr>
        <p:xfrm>
          <a:off xmlns:a="http://schemas.openxmlformats.org/drawingml/2006/main" x="400050" y="2286000"/>
          <a:ext xmlns:a="http://schemas.openxmlformats.org/drawingml/2006/main" cx="11391900" cy="36195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524000"/>
                <a:gridCol w="4933950"/>
                <a:gridCol w="4933950"/>
              </a:tblGrid>
              <a:tr h="45720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007DB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维度</a:t>
                      </a:r>
                    </a:p>
                  </a:txBody>
                  <a:tcPr marL="66675" marR="9525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007DB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Power BI</a:t>
                      </a:r>
                    </a:p>
                  </a:txBody>
                  <a:tcPr marL="66675" marR="9525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007DB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Metabase</a:t>
                      </a:r>
                    </a:p>
                  </a:txBody>
                  <a:tcPr marL="66675" marR="95250" marT="85725" marB="76200" anchor="ctr">
                    <a:solidFill>
                      <a:srgbClr val="FFFFFF"/>
                    </a:solidFill>
                  </a:tcPr>
                </a:tc>
              </a:tr>
              <a:tr h="790575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页面组成</a:t>
                      </a:r>
                    </a:p>
                  </a:txBody>
                  <a:tcPr marL="66675" marR="9525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仪表板汇总报表磁贴</a:t>
                      </a:r>
                    </a:p>
                    <a:p>
                      <a:r>
                        <a:rPr sz="1650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详细分析进入关联报表</a:t>
                      </a:r>
                    </a:p>
                  </a:txBody>
                  <a:tcPr marL="66675" marR="9525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相关查询组合到看板</a:t>
                      </a:r>
                    </a:p>
                    <a:p>
                      <a:r>
                        <a:rPr sz="1650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可添加筛选与说明</a:t>
                      </a:r>
                    </a:p>
                  </a:txBody>
                  <a:tcPr marL="66675" marR="95250" marT="85725" marB="76200" anchor="ctr">
                    <a:solidFill>
                      <a:srgbClr val="FFFFFF"/>
                    </a:solidFill>
                  </a:tcPr>
                </a:tc>
              </a:tr>
              <a:tr h="790575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筛选与明细</a:t>
                      </a:r>
                    </a:p>
                  </a:txBody>
                  <a:tcPr marL="66675" marR="9525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筛选、切片及深入分析主要在报表</a:t>
                      </a:r>
                    </a:p>
                    <a:p>
                      <a:r>
                        <a:rPr sz="1650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普通仪表板不具备同等筛选能力</a:t>
                      </a:r>
                    </a:p>
                  </a:txBody>
                  <a:tcPr marL="66675" marR="9525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看板可配置筛选和点击行为</a:t>
                      </a:r>
                    </a:p>
                    <a:p>
                      <a:r>
                        <a:rPr sz="1650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钻取受查询权限与查询方式约束</a:t>
                      </a:r>
                    </a:p>
                  </a:txBody>
                  <a:tcPr marL="66675" marR="95250" marT="85725" marB="76200" anchor="ctr">
                    <a:solidFill>
                      <a:srgbClr val="FFFFFF"/>
                    </a:solidFill>
                  </a:tcPr>
                </a:tc>
              </a:tr>
              <a:tr h="790575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访问控制</a:t>
                      </a:r>
                    </a:p>
                  </a:txBody>
                  <a:tcPr marL="66675" marR="9525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分享报表与底层数据范围分别考虑</a:t>
                      </a:r>
                    </a:p>
                    <a:p>
                      <a:r>
                        <a:rPr sz="1650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界面隐藏不构成数据访问限制</a:t>
                      </a:r>
                    </a:p>
                  </a:txBody>
                  <a:tcPr marL="66675" marR="9525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集合权限与数据权限分开</a:t>
                      </a:r>
                    </a:p>
                    <a:p>
                      <a:r>
                        <a:rPr sz="1650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多个组授权需检查最终访问范围</a:t>
                      </a:r>
                    </a:p>
                  </a:txBody>
                  <a:tcPr marL="66675" marR="95250" marT="85725" marB="76200" anchor="ctr">
                    <a:solidFill>
                      <a:srgbClr val="FFFFFF"/>
                    </a:solidFill>
                  </a:tcPr>
                </a:tc>
              </a:tr>
              <a:tr h="790575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使用代价</a:t>
                      </a:r>
                    </a:p>
                    <a:p>
                      <a:r>
                        <a:rPr sz="1650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【分析】</a:t>
                      </a:r>
                    </a:p>
                  </a:txBody>
                  <a:tcPr marL="66675" marR="9525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概况与分析分工清楚</a:t>
                      </a:r>
                    </a:p>
                    <a:p>
                      <a:r>
                        <a:rPr sz="1650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需理解仪表板、报表和数据的关系</a:t>
                      </a:r>
                    </a:p>
                  </a:txBody>
                  <a:tcPr marL="66675" marR="9525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查询与看板衔接直接</a:t>
                      </a:r>
                    </a:p>
                    <a:p>
                      <a:r>
                        <a:rPr sz="1650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权限、钻取及付费能力需逐项核对</a:t>
                      </a:r>
                    </a:p>
                  </a:txBody>
                  <a:tcPr marL="66675" marR="95250" marT="85725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9854879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DBC152D0-CDF3-969A-A32E-0A1C97DA936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715750" y="6334125"/>
            <a:ext cx="2667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222222"/>
                </a:solidFill>
                <a:latin typeface="Inter"/>
                <a:ea typeface="Inter"/>
                <a:cs typeface="Inter"/>
              </a:defRPr>
            </a:pPr>
            <a:fld id="{DB7BEEEC-A170-5376-2B6E-CB54687B0CB1}" type="slidenum">
              <a:rPr sz="1050">
                <a:solidFill>
                  <a:srgbClr val="222222"/>
                </a:solidFill>
                <a:latin typeface="Inter"/>
                <a:ea typeface="Inter"/>
                <a:cs typeface="Inter"/>
              </a:rPr>
              <a:t>10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9CA28587-E9DB-FD6E-67D5-B6C4D20349B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78359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300"/>
              </a:spcAft>
              <a:buNone/>
              <a:defRPr sz="285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数据权限的下一轮验证</a:t>
            </a:r>
          </a:p>
        </p:txBody>
      </p:sp>
      <p:sp>
        <p:nvSpPr>
          <p:cNvPr id="12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2575F3F3-5548-310C-CA8A-2BB5F4F14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374901"/>
            <a:ext cx="4826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300"/>
              </a:spcAft>
              <a:buNone/>
              <a:defRPr sz="1725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员工能否打开看板？</a:t>
            </a:r>
          </a:p>
          <a:p xmlns:a="http://schemas.openxmlformats.org/drawingml/2006/main">
            <a:pPr marL="0" indent="0">
              <a:spcAft>
                <a:spcPts val="300"/>
              </a:spcAft>
              <a:buNone/>
              <a:defRPr sz="1725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无权时如何提示或申请？</a:t>
            </a:r>
          </a:p>
        </p:txBody>
      </p:sp>
      <p:sp>
        <p:nvSpPr>
          <p:cNvPr id="15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C50C3B7B-28A7-FE2B-805B-9E84EA8C0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00" y="2374901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300"/>
              </a:spcAft>
              <a:buNone/>
              <a:defRPr sz="1800" b="0">
                <a:solidFill>
                  <a:srgbClr val="007DB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007DBA"/>
                </a:solidFill>
                <a:latin typeface="Arial Unicode MS"/>
                <a:ea typeface="Arial Unicode MS"/>
                <a:cs typeface="Arial Unicode MS"/>
              </a:rPr>
              <a:t>页面访问</a:t>
            </a:r>
          </a:p>
        </p:txBody>
      </p:sp>
      <p:sp>
        <p:nvSpPr>
          <p:cNvPr id="16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A989BD75-DE8D-B290-9745-1D9E8821A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365501"/>
            <a:ext cx="4826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300"/>
              </a:spcAft>
              <a:buNone/>
              <a:defRPr sz="1725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点击图表或更改筛选后，</a:t>
            </a:r>
          </a:p>
          <a:p xmlns:a="http://schemas.openxmlformats.org/drawingml/2006/main">
            <a:pPr marL="0" indent="0">
              <a:spcAft>
                <a:spcPts val="300"/>
              </a:spcAft>
              <a:buNone/>
              <a:defRPr sz="1725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是否仍只看到允许范围内的记录？</a:t>
            </a:r>
          </a:p>
        </p:txBody>
      </p:sp>
      <p:sp>
        <p:nvSpPr>
          <p:cNvPr id="17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E53F591C-9E43-179D-176D-24989B8B7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00" y="3365501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300"/>
              </a:spcAft>
              <a:buNone/>
              <a:defRPr sz="1800" b="0">
                <a:solidFill>
                  <a:srgbClr val="007DB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007DBA"/>
                </a:solidFill>
                <a:latin typeface="Arial Unicode MS"/>
                <a:ea typeface="Arial Unicode MS"/>
                <a:cs typeface="Arial Unicode MS"/>
              </a:rPr>
              <a:t>底层明细</a:t>
            </a:r>
          </a:p>
        </p:txBody>
      </p:sp>
      <p:sp>
        <p:nvSpPr>
          <p:cNvPr id="18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A7B38CBA-379D-8AEA-4C18-49046133E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356101"/>
            <a:ext cx="4826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300"/>
              </a:spcAft>
              <a:buNone/>
              <a:defRPr sz="1725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下载、订阅、转发后，</a:t>
            </a:r>
          </a:p>
          <a:p xmlns:a="http://schemas.openxmlformats.org/drawingml/2006/main">
            <a:pPr marL="0" indent="0">
              <a:spcAft>
                <a:spcPts val="300"/>
              </a:spcAft>
              <a:buNone/>
              <a:defRPr sz="1725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内容范围和接收对象怎样确定？</a:t>
            </a:r>
          </a:p>
        </p:txBody>
      </p:sp>
      <p:sp>
        <p:nvSpPr>
          <p:cNvPr id="19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C558135D-EC8F-1FA0-D966-C8D4FA20E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00" y="4356101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300"/>
              </a:spcAft>
              <a:buNone/>
              <a:defRPr sz="1800" b="0">
                <a:solidFill>
                  <a:srgbClr val="007DB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007DBA"/>
                </a:solidFill>
                <a:latin typeface="Arial Unicode MS"/>
                <a:ea typeface="Arial Unicode MS"/>
                <a:cs typeface="Arial Unicode MS"/>
              </a:rPr>
              <a:t>导出与分享</a:t>
            </a:r>
          </a:p>
        </p:txBody>
      </p:sp>
      <p:sp>
        <p:nvSpPr>
          <p:cNvPr id="2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59682F0D-6358-B00F-89D9-1AC370902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5359401"/>
            <a:ext cx="4826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300"/>
              </a:spcAft>
              <a:buNone/>
              <a:defRPr sz="1725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更换部门或撤销访问后，</a:t>
            </a:r>
          </a:p>
          <a:p xmlns:a="http://schemas.openxmlformats.org/drawingml/2006/main">
            <a:pPr marL="0" indent="0">
              <a:spcAft>
                <a:spcPts val="300"/>
              </a:spcAft>
              <a:buNone/>
              <a:defRPr sz="1725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原链接与已有授权怎样处理？</a:t>
            </a:r>
          </a:p>
        </p:txBody>
      </p:sp>
      <p:sp>
        <p:nvSpPr>
          <p:cNvPr id="2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858787E0-CB4B-BCAC-702A-ECD3032DF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00" y="5359401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300"/>
              </a:spcAft>
              <a:buNone/>
              <a:defRPr sz="1800" b="0">
                <a:solidFill>
                  <a:srgbClr val="007DB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007DBA"/>
                </a:solidFill>
                <a:latin typeface="Arial Unicode MS"/>
                <a:ea typeface="Arial Unicode MS"/>
                <a:cs typeface="Arial Unicode MS"/>
              </a:rPr>
              <a:t>人员变化</a:t>
            </a:r>
          </a:p>
        </p:txBody>
      </p:sp>
      <p:sp>
        <p:nvSpPr>
          <p:cNvPr id="3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982CDA0F-E73C-7EBB-EE08-FECCE69C5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374901"/>
            <a:ext cx="3568700" cy="361949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800"/>
              </a:spcAft>
              <a:buNone/>
              <a:defRPr sz="180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同一看板，不同人员</a:t>
            </a:r>
          </a:p>
          <a:p xmlns:a="http://schemas.openxmlformats.org/drawingml/2006/main">
            <a:pPr marL="0" indent="0">
              <a:spcAft>
                <a:spcPts val="350"/>
              </a:spcAft>
              <a:buNone/>
              <a:defRPr sz="180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【待验证示例】</a:t>
            </a:r>
          </a:p>
          <a:p xmlns:a="http://schemas.openxmlformats.org/drawingml/2006/main">
            <a:pPr marL="0" indent="0">
              <a:spcAft>
                <a:spcPts val="350"/>
              </a:spcAft>
              <a:buNone/>
              <a:defRPr sz="180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负责人查看全公司，</a:t>
            </a:r>
          </a:p>
          <a:p xmlns:a="http://schemas.openxmlformats.org/drawingml/2006/main">
            <a:pPr marL="0" indent="0">
              <a:spcAft>
                <a:spcPts val="350"/>
              </a:spcAft>
              <a:buNone/>
              <a:defRPr sz="180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员工只查看本部门。</a:t>
            </a:r>
          </a:p>
          <a:p xmlns:a="http://schemas.openxmlformats.org/drawingml/2006/main">
            <a:pPr marL="0" indent="0">
              <a:spcAft>
                <a:spcPts val="350"/>
              </a:spcAft>
              <a:buNone/>
              <a:defRPr sz="180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实际范围由业务确认。</a:t>
            </a:r>
          </a:p>
          <a:p xmlns:a="http://schemas.openxmlformats.org/drawingml/2006/main">
            <a:pPr marL="0" indent="0">
              <a:spcAft>
                <a:spcPts val="350"/>
              </a:spcAft>
              <a:buNone/>
              <a:defRPr sz="180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</a:p>
          <a:p xmlns:a="http://schemas.openxmlformats.org/drawingml/2006/main">
            <a:pPr marL="0" indent="0">
              <a:spcAft>
                <a:spcPts val="350"/>
              </a:spcAft>
              <a:buNone/>
              <a:defRPr sz="180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先核对查看结果，</a:t>
            </a:r>
          </a:p>
          <a:p xmlns:a="http://schemas.openxmlformats.org/drawingml/2006/main">
            <a:pPr marL="0" indent="0">
              <a:spcAft>
                <a:spcPts val="350"/>
              </a:spcAft>
              <a:buNone/>
              <a:defRPr sz="180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再判断配置是否易用。</a:t>
            </a:r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B4523B68-CB58-F426-D824-531128F4CB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</p:spTree>
    <p:extLst>
      <p:ext uri="{BB962C8B-B14F-4D97-AF65-F5344CB8AC3E}">
        <p14:creationId xmlns:p14="http://schemas.microsoft.com/office/powerpoint/2010/main" val="676116957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40C911A7-2999-5B10-850F-7785C571AE5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5537200" cy="1643185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800"/>
              </a:spcAft>
              <a:buNone/>
              <a:defRPr sz="180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默认值减少重复配置</a:t>
            </a:r>
          </a:p>
          <a:p xmlns:a="http://schemas.openxmlformats.org/drawingml/2006/main">
            <a:pPr marL="0" indent="0">
              <a:spcAft>
                <a:spcPts val="350"/>
              </a:spcAft>
              <a:buNone/>
              <a:defRPr sz="180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【分析】适合边界稳定的部门资料。</a:t>
            </a:r>
          </a:p>
          <a:p xmlns:a="http://schemas.openxmlformats.org/drawingml/2006/main">
            <a:pPr marL="0" indent="0">
              <a:spcAft>
                <a:spcPts val="350"/>
              </a:spcAft>
              <a:buNone/>
              <a:defRPr sz="180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例外授权仍需可查、可撤回。</a:t>
            </a:r>
          </a:p>
        </p:txBody>
      </p:sp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6B79DB2A-CC47-00B8-FE1C-26473E47EA9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715750" y="6334125"/>
            <a:ext cx="266700" cy="238125"/>
          </a:xfr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222222"/>
                </a:solidFill>
                <a:latin typeface="Inter"/>
                <a:ea typeface="Inter"/>
                <a:cs typeface="Inter"/>
              </a:defRPr>
            </a:pPr>
            <a:fld id="{30394428-F1DC-E5F6-DB0C-7DE31F3D8A23}" type="slidenum">
              <a:rPr sz="1050">
                <a:solidFill>
                  <a:srgbClr val="222222"/>
                </a:solidFill>
                <a:latin typeface="Inter"/>
                <a:ea typeface="Inter"/>
                <a:cs typeface="Inter"/>
              </a:rPr>
              <a:t>11</a:t>
            </a:fld>
            <a:endParaRPr/>
          </a:p>
        </p:txBody>
      </p:sp>
      <p:sp>
        <p:nvSpPr>
          <p:cNvPr id="1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9591DE77-626F-6364-307D-6A3CECC3E0AC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6256618" y="2032000"/>
            <a:ext cx="5537200" cy="1643185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800"/>
              </a:spcAft>
              <a:buNone/>
              <a:defRPr sz="180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查看与操作分别设置</a:t>
            </a:r>
          </a:p>
          <a:p xmlns:a="http://schemas.openxmlformats.org/drawingml/2006/main">
            <a:pPr marL="0" indent="0">
              <a:spcAft>
                <a:spcPts val="350"/>
              </a:spcAft>
              <a:buNone/>
              <a:defRPr sz="180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【分析】阅读者与编辑者各有范围。</a:t>
            </a:r>
          </a:p>
          <a:p xmlns:a="http://schemas.openxmlformats.org/drawingml/2006/main">
            <a:pPr marL="0" indent="0">
              <a:spcAft>
                <a:spcPts val="350"/>
              </a:spcAft>
              <a:buNone/>
              <a:defRPr sz="180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规则越细，管理员维护工作越多。</a:t>
            </a:r>
          </a:p>
        </p:txBody>
      </p:sp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89BFFB18-4CB5-6BE2-9B1E-49B4101293F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9"/>
            <a:ext cx="7835900" cy="1040292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300"/>
              </a:spcAft>
              <a:buNone/>
              <a:defRPr sz="285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可借鉴的机制与适用条件</a:t>
            </a:r>
          </a:p>
        </p:txBody>
      </p:sp>
      <p:sp>
        <p:nvSpPr>
          <p:cNvPr id="4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5FBFFE27-6CE4-D49E-8371-7F40817D2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4016975"/>
            <a:ext cx="5537200" cy="16431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800"/>
              </a:spcAft>
              <a:buNone/>
              <a:defRPr sz="180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筛选后保留查看上下文</a:t>
            </a:r>
          </a:p>
          <a:p xmlns:a="http://schemas.openxmlformats.org/drawingml/2006/main">
            <a:pPr marL="0" indent="0">
              <a:spcAft>
                <a:spcPts val="350"/>
              </a:spcAft>
              <a:buNone/>
              <a:defRPr sz="180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【分析】适合按时间、部门追查指标。</a:t>
            </a:r>
          </a:p>
          <a:p xmlns:a="http://schemas.openxmlformats.org/drawingml/2006/main">
            <a:pPr marL="0" indent="0">
              <a:spcAft>
                <a:spcPts val="350"/>
              </a:spcAft>
              <a:buNone/>
              <a:defRPr sz="180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页面应说明当前条件与数据时间。</a:t>
            </a:r>
          </a:p>
        </p:txBody>
      </p:sp>
      <p:sp>
        <p:nvSpPr>
          <p:cNvPr id="5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D6F50C40-7DBA-55A3-751E-00E97654E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618" y="4016975"/>
            <a:ext cx="5537200" cy="16431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800"/>
              </a:spcAft>
              <a:buNone/>
              <a:defRPr sz="180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汇总与明细保持访问边界</a:t>
            </a:r>
          </a:p>
          <a:p xmlns:a="http://schemas.openxmlformats.org/drawingml/2006/main">
            <a:pPr marL="0" indent="0">
              <a:spcAft>
                <a:spcPts val="350"/>
              </a:spcAft>
              <a:buNone/>
              <a:defRPr sz="180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【分析】适合定位异常来源。</a:t>
            </a:r>
          </a:p>
          <a:p xmlns:a="http://schemas.openxmlformats.org/drawingml/2006/main">
            <a:pPr marL="0" indent="0">
              <a:spcAft>
                <a:spcPts val="350"/>
              </a:spcAft>
              <a:buNone/>
              <a:defRPr sz="180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汇总、明细与导出要分别核对。</a:t>
            </a:r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E79D819C-33DB-D779-0CC9-74786C7AA64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</p:spTree>
    <p:extLst>
      <p:ext uri="{BB962C8B-B14F-4D97-AF65-F5344CB8AC3E}">
        <p14:creationId xmlns:p14="http://schemas.microsoft.com/office/powerpoint/2010/main" val="360145486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DBC152D0-CDF3-969A-A32E-0A1C97DA936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715750" y="6334125"/>
            <a:ext cx="2667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222222"/>
                </a:solidFill>
                <a:latin typeface="Inter"/>
                <a:ea typeface="Inter"/>
                <a:cs typeface="Inter"/>
              </a:defRPr>
            </a:pPr>
            <a:fld id="{4DB16885-0D3F-A391-B669-3211DB3B26E8}" type="slidenum">
              <a:rPr sz="1050">
                <a:solidFill>
                  <a:srgbClr val="222222"/>
                </a:solidFill>
                <a:latin typeface="Inter"/>
                <a:ea typeface="Inter"/>
                <a:cs typeface="Inter"/>
              </a:rPr>
              <a:t>12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9CA28587-E9DB-FD6E-67D5-B6C4D20349B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78359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300"/>
              </a:spcAft>
              <a:buNone/>
              <a:defRPr sz="285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周五讨论与后续调研</a:t>
            </a:r>
          </a:p>
        </p:txBody>
      </p:sp>
      <p:sp>
        <p:nvSpPr>
          <p:cNvPr id="12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2575F3F3-5548-310C-CA8A-2BB5F4F14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374901"/>
            <a:ext cx="4826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300"/>
              </a:spcAft>
              <a:buNone/>
              <a:defRPr sz="1725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先服务普通员工、部门负责人，</a:t>
            </a:r>
          </a:p>
          <a:p xmlns:a="http://schemas.openxmlformats.org/drawingml/2006/main">
            <a:pPr marL="0" indent="0">
              <a:spcAft>
                <a:spcPts val="300"/>
              </a:spcAft>
              <a:buNone/>
              <a:defRPr sz="1725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还是管理知识与数据的人？</a:t>
            </a:r>
          </a:p>
        </p:txBody>
      </p:sp>
      <p:sp>
        <p:nvSpPr>
          <p:cNvPr id="15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C50C3B7B-28A7-FE2B-805B-9E84EA8C0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00" y="2374901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300"/>
              </a:spcAft>
              <a:buNone/>
              <a:defRPr sz="1800" b="0">
                <a:solidFill>
                  <a:srgbClr val="007DB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007DBA"/>
                </a:solidFill>
                <a:latin typeface="Arial Unicode MS"/>
                <a:ea typeface="Arial Unicode MS"/>
                <a:cs typeface="Arial Unicode MS"/>
              </a:rPr>
              <a:t>服务对象</a:t>
            </a:r>
          </a:p>
        </p:txBody>
      </p:sp>
      <p:sp>
        <p:nvSpPr>
          <p:cNvPr id="16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A989BD75-DE8D-B290-9745-1D9E8821A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365501"/>
            <a:ext cx="4826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300"/>
              </a:spcAft>
              <a:buNone/>
              <a:defRPr sz="1725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先解决资料访问，还是某项指标</a:t>
            </a:r>
          </a:p>
          <a:p xmlns:a="http://schemas.openxmlformats.org/drawingml/2006/main">
            <a:pPr marL="0" indent="0">
              <a:spcAft>
                <a:spcPts val="300"/>
              </a:spcAft>
              <a:buNone/>
              <a:defRPr sz="1725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的查看与追查？请指定一个例子。</a:t>
            </a:r>
          </a:p>
        </p:txBody>
      </p:sp>
      <p:sp>
        <p:nvSpPr>
          <p:cNvPr id="17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E53F591C-9E43-179D-176D-24989B8B7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00" y="3365501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300"/>
              </a:spcAft>
              <a:buNone/>
              <a:defRPr sz="1800" b="0">
                <a:solidFill>
                  <a:srgbClr val="007DB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007DBA"/>
                </a:solidFill>
                <a:latin typeface="Arial Unicode MS"/>
                <a:ea typeface="Arial Unicode MS"/>
                <a:cs typeface="Arial Unicode MS"/>
              </a:rPr>
              <a:t>优先任务</a:t>
            </a:r>
          </a:p>
        </p:txBody>
      </p:sp>
      <p:sp>
        <p:nvSpPr>
          <p:cNvPr id="18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A7B38CBA-379D-8AEA-4C18-49046133E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356101"/>
            <a:ext cx="4826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300"/>
              </a:spcAft>
              <a:buNone/>
              <a:defRPr sz="1725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需要部门共享、个人例外，</a:t>
            </a:r>
          </a:p>
          <a:p xmlns:a="http://schemas.openxmlformats.org/drawingml/2006/main">
            <a:pPr marL="0" indent="0">
              <a:spcAft>
                <a:spcPts val="300"/>
              </a:spcAft>
              <a:buNone/>
              <a:defRPr sz="1725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还是按项目或业务记录控制？</a:t>
            </a:r>
          </a:p>
        </p:txBody>
      </p:sp>
      <p:sp>
        <p:nvSpPr>
          <p:cNvPr id="19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C558135D-EC8F-1FA0-D966-C8D4FA20E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00" y="4356101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300"/>
              </a:spcAft>
              <a:buNone/>
              <a:defRPr sz="1800" b="0">
                <a:solidFill>
                  <a:srgbClr val="007DB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007DBA"/>
                </a:solidFill>
                <a:latin typeface="Arial Unicode MS"/>
                <a:ea typeface="Arial Unicode MS"/>
                <a:cs typeface="Arial Unicode MS"/>
              </a:rPr>
              <a:t>权限场景</a:t>
            </a:r>
          </a:p>
        </p:txBody>
      </p:sp>
      <p:sp>
        <p:nvSpPr>
          <p:cNvPr id="2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59682F0D-6358-B00F-89D9-1AC370902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5359401"/>
            <a:ext cx="4826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300"/>
              </a:spcAft>
              <a:buNone/>
              <a:defRPr sz="1725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按选定任务，为每类保留两款样本。</a:t>
            </a:r>
          </a:p>
          <a:p xmlns:a="http://schemas.openxmlformats.org/drawingml/2006/main">
            <a:pPr marL="0" indent="0">
              <a:spcAft>
                <a:spcPts val="300"/>
              </a:spcAft>
              <a:buNone/>
              <a:defRPr sz="1725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补普通员工与管理员两端的实测。</a:t>
            </a:r>
          </a:p>
        </p:txBody>
      </p:sp>
      <p:sp>
        <p:nvSpPr>
          <p:cNvPr id="2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858787E0-CB4B-BCAC-702A-ECD3032DF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00" y="5359401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300"/>
              </a:spcAft>
              <a:buNone/>
              <a:defRPr sz="1800" b="0">
                <a:solidFill>
                  <a:srgbClr val="007DB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007DBA"/>
                </a:solidFill>
                <a:latin typeface="Arial Unicode MS"/>
                <a:ea typeface="Arial Unicode MS"/>
                <a:cs typeface="Arial Unicode MS"/>
              </a:rPr>
              <a:t>后续样本</a:t>
            </a:r>
          </a:p>
        </p:txBody>
      </p:sp>
      <p:sp>
        <p:nvSpPr>
          <p:cNvPr id="3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982CDA0F-E73C-7EBB-EE08-FECCE69C5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374901"/>
            <a:ext cx="3568700" cy="361949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800"/>
              </a:spcAft>
              <a:buNone/>
              <a:defRPr sz="180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本次需要校准</a:t>
            </a:r>
          </a:p>
          <a:p xmlns:a="http://schemas.openxmlformats.org/drawingml/2006/main">
            <a:pPr marL="0" indent="0">
              <a:spcAft>
                <a:spcPts val="350"/>
              </a:spcAft>
              <a:buNone/>
              <a:defRPr sz="180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优先服务谁、解决哪项</a:t>
            </a:r>
          </a:p>
          <a:p xmlns:a="http://schemas.openxmlformats.org/drawingml/2006/main">
            <a:pPr marL="0" indent="0">
              <a:spcAft>
                <a:spcPts val="350"/>
              </a:spcAft>
              <a:buNone/>
              <a:defRPr sz="180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具体任务，再补实测。</a:t>
            </a:r>
          </a:p>
          <a:p xmlns:a="http://schemas.openxmlformats.org/drawingml/2006/main">
            <a:pPr marL="0" indent="0">
              <a:spcAft>
                <a:spcPts val="350"/>
              </a:spcAft>
              <a:buNone/>
              <a:defRPr sz="180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</a:p>
          <a:p xmlns:a="http://schemas.openxmlformats.org/drawingml/2006/main">
            <a:pPr marL="0" indent="0">
              <a:spcAft>
                <a:spcPts val="350"/>
              </a:spcAft>
              <a:buNone/>
              <a:defRPr sz="180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当前材料提供机制对比。</a:t>
            </a:r>
          </a:p>
          <a:p xmlns:a="http://schemas.openxmlformats.org/drawingml/2006/main">
            <a:pPr marL="0" indent="0">
              <a:spcAft>
                <a:spcPts val="350"/>
              </a:spcAft>
              <a:buNone/>
              <a:defRPr sz="180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尚无统一账号的权限、</a:t>
            </a:r>
          </a:p>
          <a:p xmlns:a="http://schemas.openxmlformats.org/drawingml/2006/main">
            <a:pPr marL="0" indent="0">
              <a:spcAft>
                <a:spcPts val="350"/>
              </a:spcAft>
              <a:buNone/>
              <a:defRPr sz="180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性能或完成率验证。</a:t>
            </a:r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B4523B68-CB58-F426-D824-531128F4CB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</p:spTree>
    <p:extLst>
      <p:ext uri="{BB962C8B-B14F-4D97-AF65-F5344CB8AC3E}">
        <p14:creationId xmlns:p14="http://schemas.microsoft.com/office/powerpoint/2010/main" val="676116957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27489CDA-073D-5D98-B832-86AD74222B7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715750" y="6334125"/>
            <a:ext cx="2667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222222"/>
                </a:solidFill>
                <a:latin typeface="Inter"/>
                <a:ea typeface="Inter"/>
                <a:cs typeface="Inter"/>
              </a:defRPr>
            </a:pPr>
            <a:fld id="{2DD23107-4986-8758-3A93-3D74F35908CC}" type="slidenum">
              <a:rPr sz="1050">
                <a:solidFill>
                  <a:srgbClr val="222222"/>
                </a:solidFill>
                <a:latin typeface="Inter"/>
                <a:ea typeface="Inter"/>
                <a:cs typeface="Inter"/>
              </a:rPr>
              <a:t>13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08EBC4B8-BBC1-7C2A-F77D-BEC6394B0F9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9"/>
            <a:ext cx="7835900" cy="58158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300"/>
              </a:spcAft>
              <a:buNone/>
              <a:defRPr sz="285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附录：知识类产品资料入口</a:t>
            </a:r>
          </a:p>
        </p:txBody>
      </p:sp>
      <p:sp>
        <p:nvSpPr>
          <p:cNvPr id="1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D81689CF-E5CF-3072-801D-DC2D321D4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1057501"/>
            <a:ext cx="11404599" cy="1012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300"/>
              </a:spcAft>
              <a:buNone/>
              <a:defRPr sz="1725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点击资料名称打开官网。完整链接和证据边界见本页及相关页备注。</a:t>
            </a:r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B8357537-167D-0462-A21D-DD8E87444BE4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graphicFrame>
        <p:nvGraphicFramePr>
          <p:cNvPr id="539" name=""/>
          <p:cNvGraphicFramePr/>
          <p:nvPr/>
        </p:nvGraphicFramePr>
        <p:xfrm>
          <a:off xmlns:a="http://schemas.openxmlformats.org/drawingml/2006/main" x="400050" y="2286000"/>
          <a:ext xmlns:a="http://schemas.openxmlformats.org/drawingml/2006/main" cx="11391900" cy="36195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047750"/>
                <a:gridCol w="4857750"/>
                <a:gridCol w="5486400"/>
              </a:tblGrid>
              <a:tr h="45720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007DB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编号</a:t>
                      </a:r>
                    </a:p>
                  </a:txBody>
                  <a:tcPr marL="66675" marR="9525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007DB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官方资料</a:t>
                      </a:r>
                    </a:p>
                  </a:txBody>
                  <a:tcPr marL="66675" marR="9525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007DB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本次用途</a:t>
                      </a:r>
                    </a:p>
                  </a:txBody>
                  <a:tcPr marL="66675" marR="95250" marT="85725" marB="76200" anchor="ctr">
                    <a:solidFill>
                      <a:srgbClr val="FFFFFF"/>
                    </a:solidFill>
                  </a:tcPr>
                </a:tc>
              </a:tr>
              <a:tr h="451757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K1</a:t>
                      </a:r>
                    </a:p>
                  </a:txBody>
                  <a:tcPr marL="66675" marR="9525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  <a:hlinkClick xmlns:r="http://schemas.openxmlformats.org/officeDocument/2006/relationships" r:id="Rbd6b0f27b0f54b75"/>
                        </a:rPr>
                        <a:t>Notion：分享与权限</a:t>
                      </a:r>
                    </a:p>
                  </a:txBody>
                  <a:tcPr marL="66675" marR="9525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页面授权、继承、撤销</a:t>
                      </a:r>
                    </a:p>
                  </a:txBody>
                  <a:tcPr marL="66675" marR="95250" marT="85725" marB="76200" anchor="ctr">
                    <a:solidFill>
                      <a:srgbClr val="FFFFFF"/>
                    </a:solidFill>
                  </a:tcPr>
                </a:tc>
              </a:tr>
              <a:tr h="451757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K2</a:t>
                      </a:r>
                    </a:p>
                  </a:txBody>
                  <a:tcPr marL="66675" marR="9525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  <a:hlinkClick xmlns:r="http://schemas.openxmlformats.org/officeDocument/2006/relationships" r:id="R3b13e73c6743434d"/>
                        </a:rPr>
                        <a:t>飞书：文档权限默认值</a:t>
                      </a:r>
                    </a:p>
                  </a:txBody>
                  <a:tcPr marL="66675" marR="9525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部门、组及成员默认规则</a:t>
                      </a:r>
                    </a:p>
                  </a:txBody>
                  <a:tcPr marL="66675" marR="95250" marT="85725" marB="76200" anchor="ctr">
                    <a:solidFill>
                      <a:srgbClr val="FFFFFF"/>
                    </a:solidFill>
                  </a:tcPr>
                </a:tc>
              </a:tr>
              <a:tr h="451757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K3</a:t>
                      </a:r>
                    </a:p>
                  </a:txBody>
                  <a:tcPr marL="66675" marR="9525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  <a:hlinkClick xmlns:r="http://schemas.openxmlformats.org/officeDocument/2006/relationships" r:id="R8ebe9c8502fd4d1f"/>
                        </a:rPr>
                        <a:t>飞书：子页面列表</a:t>
                      </a:r>
                    </a:p>
                  </a:txBody>
                  <a:tcPr marL="66675" marR="9525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目录呈现与阅读范围</a:t>
                      </a:r>
                    </a:p>
                  </a:txBody>
                  <a:tcPr marL="66675" marR="95250" marT="85725" marB="76200" anchor="ctr">
                    <a:solidFill>
                      <a:srgbClr val="FFFFFF"/>
                    </a:solidFill>
                  </a:tcPr>
                </a:tc>
              </a:tr>
              <a:tr h="451757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K4</a:t>
                      </a:r>
                    </a:p>
                  </a:txBody>
                  <a:tcPr marL="66675" marR="9525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  <a:hlinkClick xmlns:r="http://schemas.openxmlformats.org/officeDocument/2006/relationships" r:id="Ra26b7e840857485c"/>
                        </a:rPr>
                        <a:t>Obsidian：共享 Vault</a:t>
                      </a:r>
                    </a:p>
                  </a:txBody>
                  <a:tcPr marL="66675" marR="9525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共享权限的明确边界</a:t>
                      </a:r>
                    </a:p>
                  </a:txBody>
                  <a:tcPr marL="66675" marR="95250" marT="85725" marB="76200" anchor="ctr">
                    <a:solidFill>
                      <a:srgbClr val="FFFFFF"/>
                    </a:solidFill>
                  </a:tcPr>
                </a:tc>
              </a:tr>
              <a:tr h="451757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K5</a:t>
                      </a:r>
                    </a:p>
                  </a:txBody>
                  <a:tcPr marL="66675" marR="9525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  <a:hlinkClick xmlns:r="http://schemas.openxmlformats.org/officeDocument/2006/relationships" r:id="Reb398715fe024a05"/>
                        </a:rPr>
                        <a:t>语雀：目录编排</a:t>
                      </a:r>
                    </a:p>
                  </a:txBody>
                  <a:tcPr marL="66675" marR="9525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沿用前期记录，当前规则待验</a:t>
                      </a:r>
                    </a:p>
                  </a:txBody>
                  <a:tcPr marL="66675" marR="95250" marT="85725" marB="76200" anchor="ctr">
                    <a:solidFill>
                      <a:srgbClr val="FFFFFF"/>
                    </a:solidFill>
                  </a:tcPr>
                </a:tc>
              </a:tr>
              <a:tr h="451757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K6</a:t>
                      </a:r>
                    </a:p>
                  </a:txBody>
                  <a:tcPr marL="66675" marR="9525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  <a:hlinkClick xmlns:r="http://schemas.openxmlformats.org/officeDocument/2006/relationships" r:id="R86c74665ae9d4230"/>
                        </a:rPr>
                        <a:t>GitBook：内容结构</a:t>
                      </a:r>
                    </a:p>
                  </a:txBody>
                  <a:tcPr marL="66675" marR="9525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目录与内容维护的已有观察</a:t>
                      </a:r>
                    </a:p>
                  </a:txBody>
                  <a:tcPr marL="66675" marR="95250" marT="85725" marB="76200" anchor="ctr">
                    <a:solidFill>
                      <a:srgbClr val="FFFFFF"/>
                    </a:solidFill>
                  </a:tcPr>
                </a:tc>
              </a:tr>
              <a:tr h="451757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K7</a:t>
                      </a:r>
                    </a:p>
                  </a:txBody>
                  <a:tcPr marL="66675" marR="9525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  <a:hlinkClick xmlns:r="http://schemas.openxmlformats.org/officeDocument/2006/relationships" r:id="R95542b4b13da47da"/>
                        </a:rPr>
                        <a:t>有道云笔记：更新记录</a:t>
                      </a:r>
                    </a:p>
                  </a:txBody>
                  <a:tcPr marL="66675" marR="9525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轻量记录与文件夹的已有观察</a:t>
                      </a:r>
                    </a:p>
                  </a:txBody>
                  <a:tcPr marL="66675" marR="95250" marT="85725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9854879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27489CDA-073D-5D98-B832-86AD74222B7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715750" y="6334125"/>
            <a:ext cx="2667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222222"/>
                </a:solidFill>
                <a:latin typeface="Inter"/>
                <a:ea typeface="Inter"/>
                <a:cs typeface="Inter"/>
              </a:defRPr>
            </a:pPr>
            <a:fld id="{327921A4-25C4-3DB4-06B1-32693CEE2241}" type="slidenum">
              <a:rPr sz="1050">
                <a:solidFill>
                  <a:srgbClr val="222222"/>
                </a:solidFill>
                <a:latin typeface="Inter"/>
                <a:ea typeface="Inter"/>
                <a:cs typeface="Inter"/>
              </a:rPr>
              <a:t>14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08EBC4B8-BBC1-7C2A-F77D-BEC6394B0F9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9"/>
            <a:ext cx="7835900" cy="58158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300"/>
              </a:spcAft>
              <a:buNone/>
              <a:defRPr sz="285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附录：数据看板资料入口</a:t>
            </a:r>
          </a:p>
        </p:txBody>
      </p:sp>
      <p:sp>
        <p:nvSpPr>
          <p:cNvPr id="1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D81689CF-E5CF-3072-801D-DC2D321D4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1057501"/>
            <a:ext cx="11404599" cy="1012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300"/>
              </a:spcAft>
              <a:buNone/>
              <a:defRPr sz="1725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查阅日期：</a:t>
            </a:r>
            <a:r>
              <a:rPr sz="1725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2026 </a:t>
            </a:r>
            <a:r>
              <a:rPr sz="1725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年</a:t>
            </a:r>
            <a:r>
              <a:rPr sz="1725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 9 </a:t>
            </a:r>
            <a:r>
              <a:rPr sz="1725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月</a:t>
            </a:r>
            <a:r>
              <a:rPr sz="1725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 9 </a:t>
            </a:r>
            <a:r>
              <a:rPr sz="1725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日。公开说明不等同当前账号或套餐的实际使用结果。</a:t>
            </a:r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B8357537-167D-0462-A21D-DD8E87444BE4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graphicFrame>
        <p:nvGraphicFramePr>
          <p:cNvPr id="539" name=""/>
          <p:cNvGraphicFramePr/>
          <p:nvPr/>
        </p:nvGraphicFramePr>
        <p:xfrm>
          <a:off xmlns:a="http://schemas.openxmlformats.org/drawingml/2006/main" x="400050" y="2286000"/>
          <a:ext xmlns:a="http://schemas.openxmlformats.org/drawingml/2006/main" cx="11391900" cy="36195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047750"/>
                <a:gridCol w="4857750"/>
                <a:gridCol w="5486400"/>
              </a:tblGrid>
              <a:tr h="45720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7DB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编号</a:t>
                      </a:r>
                    </a:p>
                  </a:txBody>
                  <a:tcPr marL="66675" marR="9525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7DB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官方资料</a:t>
                      </a:r>
                    </a:p>
                  </a:txBody>
                  <a:tcPr marL="66675" marR="9525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7DB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本次用途</a:t>
                      </a:r>
                    </a:p>
                  </a:txBody>
                  <a:tcPr marL="66675" marR="95250" marT="85725" marB="76200" anchor="ctr">
                    <a:solidFill>
                      <a:srgbClr val="FFFFFF"/>
                    </a:solidFill>
                  </a:tcPr>
                </a:tc>
              </a:tr>
              <a:tr h="451757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D1</a:t>
                      </a:r>
                    </a:p>
                  </a:txBody>
                  <a:tcPr marL="66675" marR="9525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  <a:hlinkClick xmlns:r="http://schemas.openxmlformats.org/officeDocument/2006/relationships" r:id="Rfeb58c979cc34cd8"/>
                        </a:rPr>
                        <a:t>Power BI：仪表板与报表</a:t>
                      </a:r>
                    </a:p>
                  </a:txBody>
                  <a:tcPr marL="66675" marR="9525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页面、筛选与分析边界</a:t>
                      </a:r>
                    </a:p>
                  </a:txBody>
                  <a:tcPr marL="66675" marR="95250" marT="85725" marB="76200" anchor="ctr">
                    <a:solidFill>
                      <a:srgbClr val="FFFFFF"/>
                    </a:solidFill>
                  </a:tcPr>
                </a:tc>
              </a:tr>
              <a:tr h="451757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D2</a:t>
                      </a:r>
                    </a:p>
                  </a:txBody>
                  <a:tcPr marL="66675" marR="9525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  <a:hlinkClick xmlns:r="http://schemas.openxmlformats.org/officeDocument/2006/relationships" r:id="R6b89f1d8136846d2"/>
                        </a:rPr>
                        <a:t>Power BI：分享与访问</a:t>
                      </a:r>
                    </a:p>
                  </a:txBody>
                  <a:tcPr marL="66675" marR="9525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分享与底层数据权限</a:t>
                      </a:r>
                    </a:p>
                  </a:txBody>
                  <a:tcPr marL="66675" marR="95250" marT="85725" marB="76200" anchor="ctr">
                    <a:solidFill>
                      <a:srgbClr val="FFFFFF"/>
                    </a:solidFill>
                  </a:tcPr>
                </a:tc>
              </a:tr>
              <a:tr h="451757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D3</a:t>
                      </a:r>
                    </a:p>
                  </a:txBody>
                  <a:tcPr marL="66675" marR="9525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  <a:hlinkClick xmlns:r="http://schemas.openxmlformats.org/officeDocument/2006/relationships" r:id="R5c7b12f6b737419f"/>
                        </a:rPr>
                        <a:t>Metabase：看板介绍</a:t>
                      </a:r>
                    </a:p>
                  </a:txBody>
                  <a:tcPr marL="66675" marR="9525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查询组合与官方示例</a:t>
                      </a:r>
                    </a:p>
                  </a:txBody>
                  <a:tcPr marL="66675" marR="95250" marT="85725" marB="76200" anchor="ctr">
                    <a:solidFill>
                      <a:srgbClr val="FFFFFF"/>
                    </a:solidFill>
                  </a:tcPr>
                </a:tc>
              </a:tr>
              <a:tr h="451757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D4</a:t>
                      </a:r>
                    </a:p>
                  </a:txBody>
                  <a:tcPr marL="66675" marR="9525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  <a:hlinkClick xmlns:r="http://schemas.openxmlformats.org/officeDocument/2006/relationships" r:id="R849ee50dad51458b"/>
                        </a:rPr>
                        <a:t>Metabase：筛选</a:t>
                      </a:r>
                    </a:p>
                  </a:txBody>
                  <a:tcPr marL="66675" marR="9525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筛选范围与应用方式</a:t>
                      </a:r>
                    </a:p>
                  </a:txBody>
                  <a:tcPr marL="66675" marR="95250" marT="85725" marB="76200" anchor="ctr">
                    <a:solidFill>
                      <a:srgbClr val="FFFFFF"/>
                    </a:solidFill>
                  </a:tcPr>
                </a:tc>
              </a:tr>
              <a:tr h="451757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D5</a:t>
                      </a:r>
                    </a:p>
                  </a:txBody>
                  <a:tcPr marL="66675" marR="9525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  <a:hlinkClick xmlns:r="http://schemas.openxmlformats.org/officeDocument/2006/relationships" r:id="Rfa1afe0df1654c7e"/>
                        </a:rPr>
                        <a:t>Metabase：钻取</a:t>
                      </a:r>
                    </a:p>
                  </a:txBody>
                  <a:tcPr marL="66675" marR="9525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明细追查与适用限制</a:t>
                      </a:r>
                    </a:p>
                  </a:txBody>
                  <a:tcPr marL="66675" marR="95250" marT="85725" marB="76200" anchor="ctr">
                    <a:solidFill>
                      <a:srgbClr val="FFFFFF"/>
                    </a:solidFill>
                  </a:tcPr>
                </a:tc>
              </a:tr>
              <a:tr h="451757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D6</a:t>
                      </a:r>
                    </a:p>
                  </a:txBody>
                  <a:tcPr marL="66675" marR="9525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  <a:hlinkClick xmlns:r="http://schemas.openxmlformats.org/officeDocument/2006/relationships" r:id="Re3300499aed94c8c"/>
                        </a:rPr>
                        <a:t>Metabase：权限</a:t>
                      </a:r>
                    </a:p>
                  </a:txBody>
                  <a:tcPr marL="66675" marR="9525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集合权限、多组授权</a:t>
                      </a:r>
                    </a:p>
                  </a:txBody>
                  <a:tcPr marL="66675" marR="95250" marT="85725" marB="76200" anchor="ctr">
                    <a:solidFill>
                      <a:srgbClr val="FFFFFF"/>
                    </a:solidFill>
                  </a:tcPr>
                </a:tc>
              </a:tr>
              <a:tr h="451757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D7</a:t>
                      </a:r>
                    </a:p>
                  </a:txBody>
                  <a:tcPr marL="66675" marR="9525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  <a:hlinkClick xmlns:r="http://schemas.openxmlformats.org/officeDocument/2006/relationships" r:id="R319ac6cba7464a5c"/>
                        </a:rPr>
                        <a:t>Metabase：数据权限</a:t>
                      </a:r>
                    </a:p>
                  </a:txBody>
                  <a:tcPr marL="66675" marR="9525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数据范围、下载与套餐边界</a:t>
                      </a:r>
                    </a:p>
                  </a:txBody>
                  <a:tcPr marL="66675" marR="95250" marT="85725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9854879"/>
      </p:ext>
    </p:extLst>
  </p:cSld>
</p:sld>
</file>

<file path=ppt/theme/theme1.xml><?xml version="1.0" encoding="utf-8"?>
<a:theme xmlns:a="http://schemas.openxmlformats.org/drawingml/2006/main" name="Default Codex Theme">
  <a:themeElements>
    <a:clrScheme name="Color Block Theme">
      <a:dk1>
        <a:srgbClr val="000000"/>
      </a:dk1>
      <a:lt1>
        <a:srgbClr val="FFFFFF"/>
      </a:lt1>
      <a:dk2>
        <a:srgbClr val="393939"/>
      </a:dk2>
      <a:lt2>
        <a:srgbClr val="F5F5F5"/>
      </a:lt2>
      <a:accent1>
        <a:srgbClr val="2ED978"/>
      </a:accent1>
      <a:accent2>
        <a:srgbClr val="9FB6FE"/>
      </a:accent2>
      <a:accent3>
        <a:srgbClr val="F3F161"/>
      </a:accent3>
      <a:accent4>
        <a:srgbClr val="FF5F27"/>
      </a:accent4>
      <a:accent5>
        <a:srgbClr val="5EC4FF"/>
      </a:accent5>
      <a:accent6>
        <a:srgbClr val="3C7DA3"/>
      </a:accent6>
      <a:hlink>
        <a:srgbClr val="FFA83A"/>
      </a:hlink>
      <a:folHlink>
        <a:srgbClr val="96607D"/>
      </a:folHlink>
    </a:clrScheme>
    <a:fontScheme name="Inter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Color Block Them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2026-09-09T10:04:22.7070000Z</dcterms:created>
  <dcterms:modified xsi:type="dcterms:W3CDTF">2026-09-09T10:04:22.7070000Z</dcterms:modified>
</coreProperties>
</file>