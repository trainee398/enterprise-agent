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36a7e2ac0b4b1d" /><Relationship Type="http://schemas.openxmlformats.org/officeDocument/2006/relationships/extended-properties" Target="/docProps/app.xml" Id="Rca331fe56dc84732" /><Relationship Type="http://schemas.openxmlformats.org/officeDocument/2006/relationships/officeDocument" Target="/ppt/presentation.xml" Id="R6e92eea4f514420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f3f8041376c4449"/>
  </p:sldMasterIdLst>
  <p:notesMasterIdLst>
    <p:notesMasterId xmlns:r="http://schemas.openxmlformats.org/officeDocument/2006/relationships" r:id="R0e336ef5b755409d"/>
  </p:notesMasterIdLst>
  <p:sldIdLst>
    <p:sldId xmlns:r="http://schemas.openxmlformats.org/officeDocument/2006/relationships" id="256" r:id="Rd5d266ec645043f8"/>
    <p:sldId xmlns:r="http://schemas.openxmlformats.org/officeDocument/2006/relationships" id="257" r:id="Rc4ae1c16f75c490d"/>
    <p:sldId xmlns:r="http://schemas.openxmlformats.org/officeDocument/2006/relationships" id="258" r:id="R681d35da357440cd"/>
    <p:sldId xmlns:r="http://schemas.openxmlformats.org/officeDocument/2006/relationships" id="259" r:id="R796bc747dffd4625"/>
    <p:sldId xmlns:r="http://schemas.openxmlformats.org/officeDocument/2006/relationships" id="260" r:id="Rf06006214def4d47"/>
    <p:sldId xmlns:r="http://schemas.openxmlformats.org/officeDocument/2006/relationships" id="261" r:id="Rf240f61eb1d04aec"/>
    <p:sldId xmlns:r="http://schemas.openxmlformats.org/officeDocument/2006/relationships" id="262" r:id="Rd4325e62ff934cff"/>
    <p:sldId xmlns:r="http://schemas.openxmlformats.org/officeDocument/2006/relationships" id="263" r:id="Ref59f82e337746d2"/>
    <p:sldId xmlns:r="http://schemas.openxmlformats.org/officeDocument/2006/relationships" id="264" r:id="R1062edb3dc5f4be8"/>
    <p:sldId xmlns:r="http://schemas.openxmlformats.org/officeDocument/2006/relationships" id="265" r:id="R7909f7caba9d4fe3"/>
    <p:sldId xmlns:r="http://schemas.openxmlformats.org/officeDocument/2006/relationships" id="266" r:id="R7bf48ed9faf14546"/>
    <p:sldId xmlns:r="http://schemas.openxmlformats.org/officeDocument/2006/relationships" id="267" r:id="R32fa8dea37464eea"/>
    <p:sldId xmlns:r="http://schemas.openxmlformats.org/officeDocument/2006/relationships" id="268" r:id="Rd80881828cc34b2f"/>
    <p:sldId xmlns:r="http://schemas.openxmlformats.org/officeDocument/2006/relationships" id="269" r:id="R7e38a81b915f4cac"/>
  </p:sldIdLst>
  <p:sldSz cx="12192000" cy="6858000"/>
  <p:notesSz cx="6858000" cy="9144000"/>
  <p:embeddedFontLst>
    <p:embeddedFont>
      <p:font typeface="Inter"/>
      <p:regular xmlns:r="http://schemas.openxmlformats.org/officeDocument/2006/relationships" r:id="R358e472e67204eca"/>
      <p:bold xmlns:r="http://schemas.openxmlformats.org/officeDocument/2006/relationships" r:id="Rd26c8281eb814206"/>
    </p:embeddedFont>
    <p:embeddedFont>
      <p:font typeface="Inter Medium"/>
      <p:regular xmlns:r="http://schemas.openxmlformats.org/officeDocument/2006/relationships" r:id="R0cd602c4cb904195"/>
    </p:embeddedFont>
    <p:embeddedFont>
      <p:font typeface="Inter SemiBold"/>
      <p:regular xmlns:r="http://schemas.openxmlformats.org/officeDocument/2006/relationships" r:id="R0415772a5692416e"/>
      <p:bold xmlns:r="http://schemas.openxmlformats.org/officeDocument/2006/relationships" r:id="Rf4ccc1f1667a464b"/>
    </p:embeddedFont>
    <p:embeddedFont>
      <p:font typeface="OpenAI Sans"/>
      <p:regular xmlns:r="http://schemas.openxmlformats.org/officeDocument/2006/relationships" r:id="Rb25be854b1fc4f85"/>
      <p:bold xmlns:r="http://schemas.openxmlformats.org/officeDocument/2006/relationships" r:id="R5454afd7fa8a4be2"/>
      <p:italic xmlns:r="http://schemas.openxmlformats.org/officeDocument/2006/relationships" r:id="Rd3c62c6c6b2a4607"/>
      <p:boldItalic xmlns:r="http://schemas.openxmlformats.org/officeDocument/2006/relationships" r:id="R4bc7fea738644f2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861933852a4e49" /><Relationship Type="http://schemas.openxmlformats.org/officeDocument/2006/relationships/slideMaster" Target="/ppt/slideMasters/slideMaster1.xml" Id="Ref3f8041376c4449" /><Relationship Type="http://schemas.openxmlformats.org/officeDocument/2006/relationships/notesMaster" Target="/ppt/notesMasters/notesMaster1.xml" Id="R0e336ef5b755409d" /><Relationship Type="http://schemas.openxmlformats.org/officeDocument/2006/relationships/presProps" Target="/ppt/presProps.xml" Id="R06c1f15233db4f60" /><Relationship Type="http://schemas.openxmlformats.org/officeDocument/2006/relationships/viewProps" Target="/ppt/viewProps.xml" Id="Rd5831c7d5c8c4866" /><Relationship Type="http://schemas.openxmlformats.org/officeDocument/2006/relationships/tableStyles" Target="/ppt/tableStyles.xml" Id="R7f9b4855f3044e00" /><Relationship Type="http://schemas.openxmlformats.org/officeDocument/2006/relationships/font" Target="/ppt/fonts/font.dat" Id="R358e472e67204eca" /><Relationship Type="http://schemas.openxmlformats.org/officeDocument/2006/relationships/font" Target="/ppt/fonts/font2.dat" Id="Rd26c8281eb814206" /><Relationship Type="http://schemas.openxmlformats.org/officeDocument/2006/relationships/font" Target="/ppt/fonts/font3.dat" Id="R0cd602c4cb904195" /><Relationship Type="http://schemas.openxmlformats.org/officeDocument/2006/relationships/font" Target="/ppt/fonts/font4.dat" Id="R0415772a5692416e" /><Relationship Type="http://schemas.openxmlformats.org/officeDocument/2006/relationships/font" Target="/ppt/fonts/font5.dat" Id="Rf4ccc1f1667a464b" /><Relationship Type="http://schemas.openxmlformats.org/officeDocument/2006/relationships/font" Target="/ppt/fonts/font6.dat" Id="Rb25be854b1fc4f85" /><Relationship Type="http://schemas.openxmlformats.org/officeDocument/2006/relationships/font" Target="/ppt/fonts/font7.dat" Id="R5454afd7fa8a4be2" /><Relationship Type="http://schemas.openxmlformats.org/officeDocument/2006/relationships/font" Target="/ppt/fonts/font8.dat" Id="Rd3c62c6c6b2a4607" /><Relationship Type="http://schemas.openxmlformats.org/officeDocument/2006/relationships/font" Target="/ppt/fonts/font9.dat" Id="R4bc7fea738644f29" /><Relationship Type="http://schemas.openxmlformats.org/officeDocument/2006/relationships/slide" Target="/ppt/slides/slide1.xml" Id="Rd5d266ec645043f8" /><Relationship Type="http://schemas.openxmlformats.org/officeDocument/2006/relationships/slide" Target="/ppt/slides/slide2.xml" Id="Rc4ae1c16f75c490d" /><Relationship Type="http://schemas.openxmlformats.org/officeDocument/2006/relationships/slide" Target="/ppt/slides/slide3.xml" Id="R681d35da357440cd" /><Relationship Type="http://schemas.openxmlformats.org/officeDocument/2006/relationships/slide" Target="/ppt/slides/slide4.xml" Id="R796bc747dffd4625" /><Relationship Type="http://schemas.openxmlformats.org/officeDocument/2006/relationships/slide" Target="/ppt/slides/slide5.xml" Id="Rf06006214def4d47" /><Relationship Type="http://schemas.openxmlformats.org/officeDocument/2006/relationships/slide" Target="/ppt/slides/slide6.xml" Id="Rf240f61eb1d04aec" /><Relationship Type="http://schemas.openxmlformats.org/officeDocument/2006/relationships/slide" Target="/ppt/slides/slide7.xml" Id="Rd4325e62ff934cff" /><Relationship Type="http://schemas.openxmlformats.org/officeDocument/2006/relationships/slide" Target="/ppt/slides/slide8.xml" Id="Ref59f82e337746d2" /><Relationship Type="http://schemas.openxmlformats.org/officeDocument/2006/relationships/slide" Target="/ppt/slides/slide9.xml" Id="R1062edb3dc5f4be8" /><Relationship Type="http://schemas.openxmlformats.org/officeDocument/2006/relationships/slide" Target="/ppt/slides/slide10.xml" Id="R7909f7caba9d4fe3" /><Relationship Type="http://schemas.openxmlformats.org/officeDocument/2006/relationships/slide" Target="/ppt/slides/slide11.xml" Id="R7bf48ed9faf14546" /><Relationship Type="http://schemas.openxmlformats.org/officeDocument/2006/relationships/slide" Target="/ppt/slides/slide12.xml" Id="R32fa8dea37464eea" /><Relationship Type="http://schemas.openxmlformats.org/officeDocument/2006/relationships/slide" Target="/ppt/slides/slide13.xml" Id="Rd80881828cc34b2f" /><Relationship Type="http://schemas.openxmlformats.org/officeDocument/2006/relationships/slide" Target="/ppt/slides/slide14.xml" Id="R7e38a81b915f4c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98a4e23b8540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e75eac6914c55" /><Relationship Type="http://schemas.openxmlformats.org/officeDocument/2006/relationships/notesMaster" Target="/ppt/notesMasters/notesMaster1.xml" Id="R8e5489a857e742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5c42e85b784fe7" /><Relationship Type="http://schemas.openxmlformats.org/officeDocument/2006/relationships/notesMaster" Target="/ppt/notesMasters/notesMaster1.xml" Id="R2e53e958848d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771eda5f3949fa" /><Relationship Type="http://schemas.openxmlformats.org/officeDocument/2006/relationships/notesMaster" Target="/ppt/notesMasters/notesMaster1.xml" Id="Raa692f895fb045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f8b9c6456e4b6b" /><Relationship Type="http://schemas.openxmlformats.org/officeDocument/2006/relationships/notesMaster" Target="/ppt/notesMasters/notesMaster1.xml" Id="R5036ce84e61244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760ff408154b90" /><Relationship Type="http://schemas.openxmlformats.org/officeDocument/2006/relationships/notesMaster" Target="/ppt/notesMasters/notesMaster1.xml" Id="R5d59b4af85d341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478eec1ee7444c" /><Relationship Type="http://schemas.openxmlformats.org/officeDocument/2006/relationships/notesMaster" Target="/ppt/notesMasters/notesMaster1.xml" Id="Rc2afe4ed926849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964c8f74314265" /><Relationship Type="http://schemas.openxmlformats.org/officeDocument/2006/relationships/notesMaster" Target="/ppt/notesMasters/notesMaster1.xml" Id="R11a65867b60440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34d7bccba0464f" /><Relationship Type="http://schemas.openxmlformats.org/officeDocument/2006/relationships/notesMaster" Target="/ppt/notesMasters/notesMaster1.xml" Id="R29f567bb6f284b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2ab639157f4068" /><Relationship Type="http://schemas.openxmlformats.org/officeDocument/2006/relationships/notesMaster" Target="/ppt/notesMasters/notesMaster1.xml" Id="Re86aa8ed4ae74b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e1e12e113b4da9" /><Relationship Type="http://schemas.openxmlformats.org/officeDocument/2006/relationships/notesMaster" Target="/ppt/notesMasters/notesMaster1.xml" Id="Rc9ed6addabb743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139c6356be4735" /><Relationship Type="http://schemas.openxmlformats.org/officeDocument/2006/relationships/notesMaster" Target="/ppt/notesMasters/notesMaster1.xml" Id="R2475f6a06ec74e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05c7183f354004" /><Relationship Type="http://schemas.openxmlformats.org/officeDocument/2006/relationships/notesMaster" Target="/ppt/notesMasters/notesMaster1.xml" Id="Ra1e8f7c125fd43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6dc17bcbbf4c07" /><Relationship Type="http://schemas.openxmlformats.org/officeDocument/2006/relationships/notesMaster" Target="/ppt/notesMasters/notesMaster1.xml" Id="R5f644cf294444c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93f8088bb84493" /><Relationship Type="http://schemas.openxmlformats.org/officeDocument/2006/relationships/notesMaster" Target="/ppt/notesMasters/notesMaster1.xml" Id="R72b8c8187623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汇报范围为知识类产品与数据看板。依据用户最新口述，销售漏斗暂不纳入本次汇报。已有报告中的一期定位、Markdown 主线和架构推断不作为本轮已确认需求。建议正文约10分钟，来源附录按需查阅。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资料日期：2026-09-09。</a:t>
            </a:r>
            <a:endParaRPr/>
          </a:p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本次把原有知识产品观察与权限补查结合，同时展示两款数据看板的初步机制对比。个人使用反馈、官方说明、分析判断分别标注。此次尚未使用统一测试账号验证权限、性能或任务完成率。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前期报告作为已有材料使用。保留竞品机制观察，不沿用其中已确认一期或架构性表述。语雀默认知识库行为来自用户本人反馈，不视为企业用户结论。有道与GitBook相关条目沿用前期查阅记录，当前账号与套餐未实测。Obsidian 共享权限本次复核。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https://www.notion.com/help/import-data-into-notion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https://www.notion.com/help/writing-and-editing-basics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https://www.feishu.cn/hc/zh-CN/articles/780474929438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https://www.yuque.com/yuque/thyzgp/vlki63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https://obsidian.md/help/import/markdown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6. https://obsidian.md/help/sync/collaborate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7. https://note.youdao.com/help-center/changelog_mac.html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8. https://gitbook.com/docs/creating-content/content-structure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用户本人明确表示喜欢语雀的知识库处理，同时说明不能代表企业用户和领导偏好。截图只证明可见界面中的知识库组织，不单独证明未选库时的新建行为。图片内嵌，无需项目图片目录。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飞书官方帮助说明管理员可按全局或指定部门、用户组、成员设置文档权限默认值。Notion 官方说明页面授权等级、继承、覆盖和撤销，多个授权来源可能影响最终权限。Obsidian 共享 Vault 官方明确暂不支持细粒度权限，协作者与所有者权限相同但只有所有者可邀请。此页只比较已查到的机制，不声称完成权限实测。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https://www.feishu.cn/hc/zh-CN/articles/265017155035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https://www.notion.com/en-gb/help/sharing-and-permissions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https://obsidian.md/help/sync/collaborate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这是下一轮候选验证任务，尚未执行。测试材料与人员边界是工作示例，不是业务已确认需求。AI 问答按竞品是否提供及可用账号条件单独验证，不能根据页面权限推断问答必然遵守同样边界。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本页是本轮调研问题清单。数据看板样本为Power BI和Metabase，不声称覆盖全部BI市场。指标和数据源尚未由业务指定，因此暂不比较真实计算准确率、刷新耗时或建设工期。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tabase官方说明看板组合相关查询、支持筛选及自定义点击行为。钻取要求对底层数据拥有创建查询权限；查询改写类钻取适用于查询构建器，不能把所有原生SQL图表都当作同等可钻取。截图来自官方帮助，不用于分析其中的业务数字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https://www.metabase.com/docs/latest/dashboards/introduction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https://www.metabase.com/docs/latest/dashboards/filters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https://www.metabase.com/docs/latest/questions/visualizations/drill-through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https://www.metabase.com/docs/latest/dashboards/images/interactive-dashboard.png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Power BI 官方区别：Dashboard 单页汇总，Report 可多页；普通Dashboard不可像Report一样筛选或切片，固定整张报表页存在特殊行为。因此本页未宣称Power BI仪表板完全无交互。Metabase数据权限与集合权限分开；多组成员取得其中更宽的访问。使用代价是分析判断，不是计时实测。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https://learn.microsoft.com/en-us/power-bi/create-reports/service-dashboards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https://learn.microsoft.com/en-us/power-bi/collaborate-share/service-share-dashboards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https://www.metabase.com/docs/latest/dashboards/introduction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https://www.metabase.com/docs/latest/questions/visualizations/drill-through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https://www.metabase.com/docs/latest/permissions/introduction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6. https://www.metabase.com/docs/latest/permissions/data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此页是候选试验，并非已完成结果或本项目确定的权限矩阵。Power BI官方指出隐藏页面或字段并不等于限制数据访问。Metabase区分数据权限与集合权限，行列范围和下载限制存在套餐边界。应分别用普通员工与负责人账号核对结果。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https://learn.microsoft.com/en-us/power-bi/collaborate-share/service-share-dashboards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https://www.metabase.com/docs/latest/permissions/introduction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https://www.metabase.com/docs/latest/permissions/data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本页是依据已查机制提出的条件性分析，不是选型排名或需求承诺。知识类与看板可采用相同观察思路，但不因此推断需要统一产品架构。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资料日期：2026-09-09。</a:t>
            </a:r>
          </a:p>
          <a:p xmlns:a="http://schemas.openxmlformats.org/drawingml/2006/main">
            <a:r>
              <a:t>1. https://www.feishu.cn/hc/zh-CN/articles/265017155035</a:t>
            </a:r>
          </a:p>
          <a:p xmlns:a="http://schemas.openxmlformats.org/drawingml/2006/main">
            <a:r>
              <a:t>2. https://www.notion.com/en-gb/help/sharing-and-permissions</a:t>
            </a:r>
          </a:p>
          <a:p xmlns:a="http://schemas.openxmlformats.org/drawingml/2006/main">
            <a:r>
              <a:t>3. https://www.metabase.com/docs/latest/dashboards/filters</a:t>
            </a:r>
          </a:p>
          <a:p xmlns:a="http://schemas.openxmlformats.org/drawingml/2006/main">
            <a:r>
              <a:t>4. https://www.metabase.com/docs/latest/questions/visualizations/drill-through</a:t>
            </a:r>
          </a:p>
          <a:p xmlns:a="http://schemas.openxmlformats.org/drawingml/2006/main">
            <a:r>
              <a:t>5. https://learn.microsoft.com/en-us/power-bi/collaborate-share/service-share-dashboards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本页请领导确认调研评价标准及下一轮样本任务。问题均基于当前口述信息仍未明确的内容，不预设完整企业Agent架构，也不提出开发排期。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本次复核Notion、飞书与Obsidian权限相关公开说明。语雀目录、GitBook和有道维护观察沿用前期查阅记录，未作当前账号实测；语雀权限页面本次访问未成功，未在权限对比页补写未经复核的结论。个人语雀图由用户提供。原项目文档中的一期设计意见未视为已确认需求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https://www.notion.com/en-gb/help/sharing-and-permissions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https://www.feishu.cn/hc/zh-CN/articles/265017155035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https://www.feishu.cn/hc/zh-CN/articles/780474929438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https://obsidian.md/help/sync/collaborate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https://www.yuque.com/yuque/thyzgp/vlki63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6. https://gitbook.com/docs/creating-content/content-structure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7. https://note.youdao.com/help-center/changelog_mac.html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8. https://www.yuque.com/yuque/thyzgp/qnxyk7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9. https://note.youdao.com/help-center/changelog_mac.html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10. https://www.notion.com/help/import-data-into-notion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11. https://www.notion.com/help/writing-and-editing-basics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12. https://obsidian.md/help/import/markdown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所有外部事实以列出的官方资料为依据。Metabase行列数据限制、下载控制等能力存在Pro/Enterprise套餐限制，不能假设免费版可完整验证。Power BI分享与协作也有许可及容量要求。未执行真实企业数据接入、权限穿透或性能测试。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资料日期：2026-09-09。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1. https://learn.microsoft.com/en-us/power-bi/create-reports/service-dashboards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2. https://learn.microsoft.com/en-us/power-bi/collaborate-share/service-share-dashboards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3. https://www.metabase.com/docs/latest/dashboards/introduction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4. https://www.metabase.com/docs/latest/dashboards/filters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5. https://www.metabase.com/docs/latest/questions/visualizations/drill-through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6. https://www.metabase.com/docs/latest/permissions/introduction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7. https://www.metabase.com/docs/latest/permissions/data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8. https://www.metabase.com/docs/latest/dashboards/images/interactive-dashboard.png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84bad2d2c40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646ec3cbd41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51083c1044f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1c1128f0843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fb16e3b96f42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44b011d434d9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786f6941a4e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2e2e0178b46f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2df76162c4353" /><Relationship Type="http://schemas.openxmlformats.org/officeDocument/2006/relationships/image" Target="/ppt/media/image.png" Id="Rdbd2212a4cc142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924c262d740c6" /><Relationship Type="http://schemas.openxmlformats.org/officeDocument/2006/relationships/image" Target="/ppt/media/image2.png" Id="Ra06e5f0e403d4aaf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dbd2212a4cc1424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06e5f0e403d4aa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eebb90dc3401c" /><Relationship Type="http://schemas.openxmlformats.org/officeDocument/2006/relationships/slideLayout" Target="/ppt/slideLayouts/slideLayout1.xml" Id="R738cd4f4403949ae" /><Relationship Type="http://schemas.openxmlformats.org/officeDocument/2006/relationships/slideLayout" Target="/ppt/slideLayouts/slideLayout2.xml" Id="Rf3d9d1e1e2144764" /><Relationship Type="http://schemas.openxmlformats.org/officeDocument/2006/relationships/slideLayout" Target="/ppt/slideLayouts/slideLayout3.xml" Id="Rf2db14df2aea4572" /><Relationship Type="http://schemas.openxmlformats.org/officeDocument/2006/relationships/slideLayout" Target="/ppt/slideLayouts/slideLayout4.xml" Id="R6d3d6b0ade24478c" /><Relationship Type="http://schemas.openxmlformats.org/officeDocument/2006/relationships/slideLayout" Target="/ppt/slideLayouts/slideLayout5.xml" Id="R74cdb12d78f64e95" /><Relationship Type="http://schemas.openxmlformats.org/officeDocument/2006/relationships/slideLayout" Target="/ppt/slideLayouts/slideLayout6.xml" Id="Ra7faea793e9d4a78" /><Relationship Type="http://schemas.openxmlformats.org/officeDocument/2006/relationships/slideLayout" Target="/ppt/slideLayouts/slideLayout7.xml" Id="R9f9c648a83a440e1" /><Relationship Type="http://schemas.openxmlformats.org/officeDocument/2006/relationships/slideLayout" Target="/ppt/slideLayouts/slideLayout8.xml" Id="R719dc41251e24978" /><Relationship Type="http://schemas.openxmlformats.org/officeDocument/2006/relationships/slideLayout" Target="/ppt/slideLayouts/slideLayout9.xml" Id="R8a2070f2002347f2" /><Relationship Type="http://schemas.openxmlformats.org/officeDocument/2006/relationships/slideLayout" Target="/ppt/slideLayouts/slideLayout10.xml" Id="R9ce663b6294c41e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8cd4f4403949ae"/>
    <p:sldLayoutId xmlns:r="http://schemas.openxmlformats.org/officeDocument/2006/relationships" id="2147483650" r:id="Rf3d9d1e1e2144764"/>
    <p:sldLayoutId xmlns:r="http://schemas.openxmlformats.org/officeDocument/2006/relationships" id="2147483651" r:id="Rf2db14df2aea4572"/>
    <p:sldLayoutId xmlns:r="http://schemas.openxmlformats.org/officeDocument/2006/relationships" id="2147483652" r:id="R6d3d6b0ade24478c"/>
    <p:sldLayoutId xmlns:r="http://schemas.openxmlformats.org/officeDocument/2006/relationships" id="2147483653" r:id="R74cdb12d78f64e95"/>
    <p:sldLayoutId xmlns:r="http://schemas.openxmlformats.org/officeDocument/2006/relationships" id="2147483654" r:id="Ra7faea793e9d4a78"/>
    <p:sldLayoutId xmlns:r="http://schemas.openxmlformats.org/officeDocument/2006/relationships" id="2147483655" r:id="R9f9c648a83a440e1"/>
    <p:sldLayoutId xmlns:r="http://schemas.openxmlformats.org/officeDocument/2006/relationships" id="2147483656" r:id="R719dc41251e24978"/>
    <p:sldLayoutId xmlns:r="http://schemas.openxmlformats.org/officeDocument/2006/relationships" id="2147483657" r:id="R8a2070f2002347f2"/>
    <p:sldLayoutId xmlns:r="http://schemas.openxmlformats.org/officeDocument/2006/relationships" id="2147483658" r:id="R9ce663b6294c41e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2b38b019045f2" /><Relationship Type="http://schemas.openxmlformats.org/officeDocument/2006/relationships/image" Target="/ppt/media/image3.png" Id="R8115a3aac4f04ec2" /><Relationship Type="http://schemas.openxmlformats.org/officeDocument/2006/relationships/notesSlide" Target="/ppt/notesSlides/notesSlide1.xml" Id="R2917042d169340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8aa41a9df4722" /><Relationship Type="http://schemas.openxmlformats.org/officeDocument/2006/relationships/notesSlide" Target="/ppt/notesSlides/notesSlide2.xml" Id="Re3f804cfef01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0f188ccd9c4ddf" /><Relationship Type="http://schemas.openxmlformats.org/officeDocument/2006/relationships/notesSlide" Target="/ppt/notesSlides/notesSlide3.xml" Id="Rd6a7db248ee74c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095ebff15d418b" /><Relationship Type="http://schemas.openxmlformats.org/officeDocument/2006/relationships/image" Target="/ppt/media/image4.png" Id="Re064ed19e0a548f6" /><Relationship Type="http://schemas.openxmlformats.org/officeDocument/2006/relationships/notesSlide" Target="/ppt/notesSlides/notesSlide4.xml" Id="R630aeef641dc41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f113576d12489e" /><Relationship Type="http://schemas.openxmlformats.org/officeDocument/2006/relationships/notesSlide" Target="/ppt/notesSlides/notesSlide5.xml" Id="R96e3024ee90540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336f9983b437b" /><Relationship Type="http://schemas.openxmlformats.org/officeDocument/2006/relationships/notesSlide" Target="/ppt/notesSlides/notesSlide6.xml" Id="R572738c87f1d42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8876e857064355" /><Relationship Type="http://schemas.openxmlformats.org/officeDocument/2006/relationships/notesSlide" Target="/ppt/notesSlides/notesSlide7.xml" Id="Rf39a8d2d2f2d4e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e26a8e81ec468b" /><Relationship Type="http://schemas.openxmlformats.org/officeDocument/2006/relationships/image" Target="/ppt/media/image5.png" Id="Rc4349bf7e8ac43b6" /><Relationship Type="http://schemas.openxmlformats.org/officeDocument/2006/relationships/notesSlide" Target="/ppt/notesSlides/notesSlide8.xml" Id="R8e5e2707ab9848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39367c93148ce" /><Relationship Type="http://schemas.openxmlformats.org/officeDocument/2006/relationships/notesSlide" Target="/ppt/notesSlides/notesSlide9.xml" Id="R6430281ba2ba41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0f55f46e04b9a" /><Relationship Type="http://schemas.openxmlformats.org/officeDocument/2006/relationships/notesSlide" Target="/ppt/notesSlides/notesSlide10.xml" Id="Rd1d440c5d2b846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f68823218d48b9" /><Relationship Type="http://schemas.openxmlformats.org/officeDocument/2006/relationships/notesSlide" Target="/ppt/notesSlides/notesSlide11.xml" Id="R2b65797d820144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170da68b9455b" /><Relationship Type="http://schemas.openxmlformats.org/officeDocument/2006/relationships/notesSlide" Target="/ppt/notesSlides/notesSlide12.xml" Id="R9c36ca7fa8c446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5349fbe3e4e28" /><Relationship Type="http://schemas.openxmlformats.org/officeDocument/2006/relationships/hyperlink" Target="https://www.notion.com/en-gb/help/sharing-and-permissions" TargetMode="External" Id="R9ec2c6321e3d473e" /><Relationship Type="http://schemas.openxmlformats.org/officeDocument/2006/relationships/hyperlink" Target="https://www.feishu.cn/hc/zh-CN/articles/265017155035" TargetMode="External" Id="Rcdee895fb7d44875" /><Relationship Type="http://schemas.openxmlformats.org/officeDocument/2006/relationships/hyperlink" Target="https://www.feishu.cn/hc/zh-CN/articles/780474929438" TargetMode="External" Id="Ra8707333f1224f86" /><Relationship Type="http://schemas.openxmlformats.org/officeDocument/2006/relationships/hyperlink" Target="https://obsidian.md/help/sync/collaborate" TargetMode="External" Id="Rbfdcad8ddee043c9" /><Relationship Type="http://schemas.openxmlformats.org/officeDocument/2006/relationships/hyperlink" Target="https://www.yuque.com/yuque/thyzgp/vlki63" TargetMode="External" Id="Rd99b3bc4c16e46ab" /><Relationship Type="http://schemas.openxmlformats.org/officeDocument/2006/relationships/hyperlink" Target="https://gitbook.com/docs/creating-content/content-structure" TargetMode="External" Id="R72f2a5a71bbb4f79" /><Relationship Type="http://schemas.openxmlformats.org/officeDocument/2006/relationships/hyperlink" Target="https://note.youdao.com/help-center/changelog_mac.html" TargetMode="External" Id="R6c2c68a261994f2c" /><Relationship Type="http://schemas.openxmlformats.org/officeDocument/2006/relationships/notesSlide" Target="/ppt/notesSlides/notesSlide13.xml" Id="R8f21051c538f44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ca4c68937b44c9" /><Relationship Type="http://schemas.openxmlformats.org/officeDocument/2006/relationships/hyperlink" Target="https://learn.microsoft.com/en-us/power-bi/create-reports/service-dashboards" TargetMode="External" Id="R2586ffe198cf4938" /><Relationship Type="http://schemas.openxmlformats.org/officeDocument/2006/relationships/hyperlink" Target="https://learn.microsoft.com/en-us/power-bi/collaborate-share/service-share-dashboards" TargetMode="External" Id="Rbc99d346b72149be" /><Relationship Type="http://schemas.openxmlformats.org/officeDocument/2006/relationships/hyperlink" Target="https://www.metabase.com/docs/latest/dashboards/introduction" TargetMode="External" Id="Rf51dc02f719145c6" /><Relationship Type="http://schemas.openxmlformats.org/officeDocument/2006/relationships/hyperlink" Target="https://www.metabase.com/docs/latest/dashboards/filters" TargetMode="External" Id="R5595d65ef44d4880" /><Relationship Type="http://schemas.openxmlformats.org/officeDocument/2006/relationships/hyperlink" Target="https://www.metabase.com/docs/latest/questions/visualizations/drill-through" TargetMode="External" Id="Rd9fd4a456fd94fab" /><Relationship Type="http://schemas.openxmlformats.org/officeDocument/2006/relationships/hyperlink" Target="https://www.metabase.com/docs/latest/permissions/introduction" TargetMode="External" Id="R616b8dc1a88e400d" /><Relationship Type="http://schemas.openxmlformats.org/officeDocument/2006/relationships/hyperlink" Target="https://www.metabase.com/docs/latest/permissions/data" TargetMode="External" Id="R9d61ada9d8fc40d8" /><Relationship Type="http://schemas.openxmlformats.org/officeDocument/2006/relationships/notesSlide" Target="/ppt/notesSlides/notesSlide14.xml" Id="R3edb3d8f45e941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4800" b="0">
                <a:solidFill>
                  <a:srgbClr val="2D6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0">
                <a:solidFill>
                  <a:srgbClr val="2D607A"/>
                </a:solidFill>
                <a:latin typeface="Arial Unicode MS"/>
                <a:ea typeface="Arial Unicode MS"/>
                <a:cs typeface="Arial Unicode MS"/>
              </a:rPr>
              <a:t>知识类产品与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4800" b="0">
                <a:solidFill>
                  <a:srgbClr val="2D60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0">
                <a:solidFill>
                  <a:srgbClr val="2D607A"/>
                </a:solidFill>
                <a:latin typeface="Arial Unicode MS"/>
                <a:ea typeface="Arial Unicode MS"/>
                <a:cs typeface="Arial Unicode MS"/>
              </a:rPr>
              <a:t>数据看板调研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周五讨论稿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资料截至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2026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年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9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月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9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日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5a3aac4f04ec2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E2598689-54C9-18A7-3A19-ED76AA08988F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41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知识产品补看权限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41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数据看板比较使用路径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知识类产品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已有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6 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款产品资料整理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本轮补充权限机制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数据看板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初看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Power BI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、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Metabase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依据官方资料，尚未实测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1C1C27E6-B24A-134D-A33B-2CE33CAE57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202359C0-8A7A-196E-DD58-8E6569619F09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知识类产品：已有调研发现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比较导入后的文档形态、组织方式与维护成本。下表的价值与代价为分析判断。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3286125"/>
                <a:gridCol w="3143250"/>
                <a:gridCol w="358140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已观察的做法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参考价值【分析】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使用代价或边界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Notion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页面层级与块编辑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创建和持续修改较集中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导入转为页面，复杂结构需核对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飞书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页面树、子页面列表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适合围绕团队资料整理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上传附件与导入云文档需区分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语雀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知识库与文档目录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归属清楚，适合手册阅读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默认归属为个人反馈，企业规则待验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Obsidian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本地 MD 与文件夹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文件形态直接、便于携带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 Vault 不支持细粒度权限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GitBook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目录与变更历史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适合连续阅读和内容维护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Git 同步、发布流程有学习成本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有道云笔记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MD 编辑与文件夹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轻量记录和范围查找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个人笔记能力不能证明企业权限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evidence-caption">
            <a:extLst xmlns:a="http://schemas.openxmlformats.org/drawingml/2006/main">
              <a:ext uri="{FF2B5EF4-FFF2-40B4-BE49-F238E27FC236}">
                <a16:creationId xmlns:a16="http://schemas.microsoft.com/office/drawing/2014/main" id="{31B26EE4-3731-4D07-B5F5-794FE698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rPr>
              <a:t>证据：既有调研及官方说明。未统一账号实测，不提供产品总分排名。</a:t>
            </a:r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个人体验样本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个人反馈：未选知识库时，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文档进入默认知识库。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截图可见默认库、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自建主题库和常用入口。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【分析】先记录后整理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值得验证。企业默认归属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和可见范围仍需确认。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EFD6AB9A-5F9E-5F59-51AB-3C8734130965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7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语雀：知识库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27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与文档归属</a:t>
            </a:r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4ed19e0a548f6"/>
          <a:stretch xmlns:a="http://schemas.openxmlformats.org/drawingml/2006/main"/>
        </p:blipFill>
        <p:spPr>
          <a:xfrm xmlns:a="http://schemas.openxmlformats.org/drawingml/2006/main">
            <a:off x="4305300" y="922177"/>
            <a:ext cx="7503480" cy="4550535"/>
          </a:xfrm>
          <a:prstGeom xmlns:a="http://schemas.openxmlformats.org/drawingml/2006/main" prst="roundRect">
            <a:avLst/>
          </a:prstGeom>
        </p:spPr>
      </p:pic>
      <p:sp>
        <p:nvSpPr>
          <p:cNvPr id="536" name="evidence-caption">
            <a:extLst xmlns:a="http://schemas.openxmlformats.org/drawingml/2006/main">
              <a:ext uri="{FF2B5EF4-FFF2-40B4-BE49-F238E27FC236}">
                <a16:creationId xmlns:a16="http://schemas.microsoft.com/office/drawing/2014/main" id="{1CBEB0F5-F171-46AE-B632-C8F327D2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rPr>
              <a:t>个人截图与使用反馈。不能据此推断企业账号的默认权限或其他用户偏好。</a:t>
            </a:r>
          </a:p>
        </p:txBody>
      </p:sp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EE5B3003-2C54-13C6-9832-7637201064DE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知识权限：授权范围与操作能力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权限补查样本。官方机制与适用判断分列，普通员工实际访问效果仍需验证。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3524250"/>
                <a:gridCol w="3429000"/>
                <a:gridCol w="30099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官方说明中的机制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价值与代价【分析】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下一步验证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1054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飞书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按部门、用户组或成员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配置文档默认权限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可统一默认规则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需理解企业与文档设置的关系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新建默认范围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移出部门后的访问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1054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Notion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向个人或组分享页面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区分编辑与完整访问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单篇协作灵活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需检查继承及其他授权来源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单篇例外授权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取消分享与搜索表现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1054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Obsidian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 Vault 的协作者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基本同权，邀请权除外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共享规则较少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难覆盖同库内人员分级阅读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作为 MD 参考</a:t>
                      </a:r>
                    </a:p>
                    <a:p>
                      <a:r>
                        <a:rPr sz="172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不作细粒度权限样本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8C630A04-5A25-9E0C-9436-126091DB86B3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知识权限的下一轮验证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新建或导入后谁能看？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用户是否能理解当前范围？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默认归属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部门共享中增加一份受限资料，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能否单独设置并说明权限来源？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单篇例外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取消邀请或移出部门后，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原链接、附件和搜索怎样变化？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权限撤销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分别检查标题、摘要与正文。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有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AI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问答时，再单独核对引用。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搜索与问答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统一任务样本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【待验证示例】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全员制度、部门手册、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指定人员报价说明。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管理员与普通员工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分别观察同一操作结果。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指标理解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指标定义、时间范围和刷新时间，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决定一个数字是否能用于判断。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D3D7D1C8-AE23-AA48-DF65-C742588DBE47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7</a:t>
            </a:fld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筛选与追查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从汇总进入明细，观察筛选条件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能否保留，入口是否容易找到。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数据看板的调研范围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人员可见范围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谁能打开看板，打开后可以查看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哪些部门的数据与记录。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制作与维护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谁接入数据、定义指标、更新看板，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使用者需要理解多少配置。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D982DB-B102-71B9-EDF4-3738A0B368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638300"/>
            <a:ext cx="3568700" cy="4356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官方界面示例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相关查询放到同一看板，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通过筛选和点击继续查看。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【分析】查看与追查相邻，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可减少切换入口的负担。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限制：钻取需要查询权限。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原生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SQL </a:t>
            </a: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的交互范围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还受查询方式约束。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BA58DA2A-B818-18A9-29C1-B697728D5BCE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900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Metabase</a:t>
            </a:r>
            <a:r>
              <a: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：看板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中的筛选与追查</a:t>
            </a:r>
          </a:p>
        </p:txBody>
      </p:sp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5FDA4427-F2DF-5DB2-AE39-D904C10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896"/>
            <a:ext cx="7499261" cy="5606415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4612A72-3676-A3F7-8578-975B86130C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pic>
        <p:nvPicPr>
          <p:cNvPr id="5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49bf7e8ac43b6"/>
          <a:stretch xmlns:a="http://schemas.openxmlformats.org/drawingml/2006/main"/>
        </p:blipFill>
        <p:spPr>
          <a:xfrm xmlns:a="http://schemas.openxmlformats.org/drawingml/2006/main">
            <a:off x="4765824" y="396409"/>
            <a:ext cx="6582432" cy="5602070"/>
          </a:xfrm>
          <a:prstGeom xmlns:a="http://schemas.openxmlformats.org/drawingml/2006/main" prst="roundRect">
            <a:avLst/>
          </a:prstGeom>
        </p:spPr>
      </p:pic>
      <p:sp>
        <p:nvSpPr>
          <p:cNvPr id="536" name="evidence-caption">
            <a:extLst xmlns:a="http://schemas.openxmlformats.org/drawingml/2006/main">
              <a:ext uri="{FF2B5EF4-FFF2-40B4-BE49-F238E27FC236}">
                <a16:creationId xmlns:a16="http://schemas.microsoft.com/office/drawing/2014/main" id="{89438D7E-004D-4090-9FB2-D5BE331D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>
                <a:solidFill>
                  <a:srgbClr val="555555"/>
                </a:solidFill>
                <a:latin typeface="Arial Unicode MS"/>
                <a:ea typeface="Arial Unicode MS"/>
                <a:cs typeface="Arial Unicode MS"/>
              </a:rPr>
              <a:t>官方示例图，仅展示界面与组织方式。图中数据不代表本项目业务，也不是本次实测结果。</a:t>
            </a:r>
          </a:p>
        </p:txBody>
      </p:sp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388657AE-30A1-5A7A-6A7F-315D84436430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数据看板：两款产品的使用路径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“看板”按业务用途比较，同时保留产品自身的页面与权限边界。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4933950"/>
                <a:gridCol w="4933950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维度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Power BI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Metabase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页面组成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仪表板汇总报表磁贴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详细分析进入关联报表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相关查询组合到看板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可添加筛选与说明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筛选与明细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筛选、切片及深入分析主要在报表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普通仪表板不具备同等筛选能力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看板可配置筛选和点击行为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钻取受查询权限与查询方式约束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访问控制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分享报表与底层数据范围分别考虑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界面隐藏不构成数据访问限制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集合权限与数据权限分开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多个组授权需检查最终访问范围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使用代价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【分析】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概况与分析分工清楚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需理解仪表板、报表和数据的关系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查询与看板衔接直接</a:t>
                      </a:r>
                    </a:p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权限、钻取及付费能力需逐项核对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DB7BEEEC-A170-5376-2B6E-CB54687B0CB1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数据权限的下一轮验证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员工能否打开看板？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无权时如何提示或申请？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页面访问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点击图表或更改筛选后，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是否仍只看到允许范围内的记录？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底层明细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下载、订阅、转发后，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内容范围和接收对象怎样确定？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导出与分享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更换部门或撤销访问后，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原链接与已有授权怎样处理？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人员变化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同一看板，不同人员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【待验证示例】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负责人查看全公司，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员工只查看本部门。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实际范围由业务确认。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先核对查看结果，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再判断配置是否易用。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默认值减少重复配置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【分析】适合边界稳定的部门资料。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例外授权仍需可查、可撤回。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30394428-F1DC-E5F6-DB0C-7DE31F3D8A23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11</a:t>
            </a:fld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查看与操作分别设置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【分析】阅读者与编辑者各有范围。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规则越细，管理员维护工作越多。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可借鉴的机制与适用条件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筛选后保留查看上下文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【分析】适合按时间、部门追查指标。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页面应说明当前条件与数据时间。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汇总与明细保持访问边界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【分析】适合定位异常来源。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汇总、明细与导出要分别核对。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4DB16885-0D3F-A391-B669-3211DB3B26E8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周五讨论与后续调研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先服务普通员工、部门负责人，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还是管理知识与数据的人？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服务对象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先解决资料访问，还是某项指标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的查看与追查？请指定一个例子。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优先任务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需要部门共享、个人例外，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还是按项目或业务记录控制？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权限场景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按选定任务，为每类保留两款样本。</a:t>
            </a:r>
          </a:p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补普通员工与管理员两端的实测。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07DBA"/>
                </a:solidFill>
                <a:latin typeface="Arial Unicode MS"/>
                <a:ea typeface="Arial Unicode MS"/>
                <a:cs typeface="Arial Unicode MS"/>
              </a:rPr>
              <a:t>后续样本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80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本次需要校准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优先服务谁、解决哪项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具体任务，再补实测。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当前材料提供机制对比。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尚无统一账号的权限、</a:t>
            </a:r>
          </a:p>
          <a:p xmlns:a="http://schemas.openxmlformats.org/drawingml/2006/main">
            <a:pPr marL="0" indent="0">
              <a:spcAft>
                <a:spcPts val="350"/>
              </a:spcAft>
              <a:buNone/>
              <a:def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性能或完成率验证。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2DD23107-4986-8758-3A93-3D74F35908CC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附录：知识类产品资料入口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点击资料名称打开官网。完整链接和证据边界见本页及相关页备注。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485775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编号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官方资料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本次用途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K1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9ec2c6321e3d473e"/>
                        </a:rPr>
                        <a:t>Notion：分享与权限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页面授权、继承、撤销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K2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cdee895fb7d44875"/>
                        </a:rPr>
                        <a:t>飞书：文档权限默认值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部门、组及成员默认规则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K3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a8707333f1224f86"/>
                        </a:rPr>
                        <a:t>飞书：子页面列表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目录呈现与阅读范围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K4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bfdcad8ddee043c9"/>
                        </a:rPr>
                        <a:t>Obsidian：共享 Vault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共享权限的明确边界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K5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d99b3bc4c16e46ab"/>
                        </a:rPr>
                        <a:t>语雀：目录编排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沿用前期记录，当前规则待验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K6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72f2a5a71bbb4f79"/>
                        </a:rPr>
                        <a:t>GitBook：内容结构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目录与内容维护的已有观察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K7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6c2c68a261994f2c"/>
                        </a:rPr>
                        <a:t>有道云笔记：更新记录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轻量记录与文件夹的已有观察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715750" y="6334125"/>
            <a:ext cx="2667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22222"/>
                </a:solidFill>
                <a:latin typeface="Inter"/>
                <a:ea typeface="Inter"/>
                <a:cs typeface="Inter"/>
              </a:defRPr>
            </a:pPr>
            <a:fld id="{327921A4-25C4-3DB4-06B1-32693CEE2241}" type="slidenum">
              <a:rPr sz="1050">
                <a:solidFill>
                  <a:srgbClr val="222222"/>
                </a:solidFill>
                <a:latin typeface="Inter"/>
                <a:ea typeface="Inter"/>
                <a:cs typeface="Inter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  <a:def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附录：数据看板资料入口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300"/>
              </a:spcAft>
              <a:buNone/>
              <a:def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查阅日期：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2026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年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9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月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9 </a:t>
            </a:r>
            <a:r>
              <a:rPr sz="17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日。公开说明不等同当前账号或套餐的实际使用结果。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graphicFrame>
        <p:nvGraphicFramePr>
          <p:cNvPr id="539" name=""/>
          <p:cNvGraphicFramePr/>
          <p:nvPr/>
        </p:nvGraphicFramePr>
        <p:xfrm>
          <a:off xmlns:a="http://schemas.openxmlformats.org/drawingml/2006/main" x="400050" y="22860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4857750"/>
                <a:gridCol w="5486400"/>
              </a:tblGrid>
              <a:tr h="457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编号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官方资料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DB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本次用途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D1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2586ffe198cf4938"/>
                        </a:rPr>
                        <a:t>Power BI：仪表板与报表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页面、筛选与分析边界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D2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bc99d346b72149be"/>
                        </a:rPr>
                        <a:t>Power BI：分享与访问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分享与底层数据权限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D3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f51dc02f719145c6"/>
                        </a:rPr>
                        <a:t>Metabase：看板介绍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查询组合与官方示例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D4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5595d65ef44d4880"/>
                        </a:rPr>
                        <a:t>Metabase：筛选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筛选范围与应用方式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D5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d9fd4a456fd94fab"/>
                        </a:rPr>
                        <a:t>Metabase：钻取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明细追查与适用限制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D6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616b8dc1a88e400d"/>
                        </a:rPr>
                        <a:t>Metabase：权限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集合权限、多组授权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  <a:tr h="4517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D7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  <a:hlinkClick xmlns:r="http://schemas.openxmlformats.org/officeDocument/2006/relationships" r:id="R9d61ada9d8fc40d8"/>
                        </a:rPr>
                        <a:t>Metabase：数据权限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数据范围、下载与套餐边界</a:t>
                      </a:r>
                    </a:p>
                  </a:txBody>
                  <a:tcPr marL="66675" marR="9525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2026-09-09T10:02:44.1830000Z</dcterms:created>
  <dcterms:modified xsi:type="dcterms:W3CDTF">2026-09-09T10:02:44.1830000Z</dcterms:modified>
</coreProperties>
</file>